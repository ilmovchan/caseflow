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3" r:id="rId4"/>
    <p:sldId id="261" r:id="rId5"/>
    <p:sldId id="264" r:id="rId6"/>
    <p:sldId id="273" r:id="rId7"/>
    <p:sldId id="259" r:id="rId8"/>
    <p:sldId id="276" r:id="rId9"/>
    <p:sldId id="275" r:id="rId10"/>
    <p:sldId id="269" r:id="rId11"/>
    <p:sldId id="271" r:id="rId1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Средний стиль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Темный стиль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1EBBBCC-DAD2-459C-BE2E-F6DE35CF9A28}" styleName="Темный стиль 2 — акцент 3/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8FD4443E-F989-4FC4-A0C8-D5A2AF1F390B}" styleName="Темный стиль 1 — акцент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Темный стиль 1 — акцент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Темный стиль 1 — акцент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Темный стиль 1 — акцент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38B1855-1B75-4FBE-930C-398BA8C253C6}" styleName="Стиль из темы 2 - акцент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7CE84F3-28C3-443E-9E96-99CF82512B78}" styleName="Темный стиль 1 — акцент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Темный стиль 1 — акцент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Темный стиль 2 — акцент 1/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46F890A9-2807-4EBB-B81D-B2AA78EC7F39}" styleName="Темный стиль 2 — акцент 5/акцент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Средний стиль 4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9631B5-78F2-41C9-869B-9F39066F8104}" styleName="Средний стиль 3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Светлый стиль 3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Стиль из темы 2 - акцент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Стиль из темы 2 - акцент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4C1A8A3-306A-4EB7-A6B1-4F7E0EB9C5D6}" styleName="Средний стиль 3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Средний стиль 3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36" autoAdjust="0"/>
    <p:restoredTop sz="94631" autoAdjust="0"/>
  </p:normalViewPr>
  <p:slideViewPr>
    <p:cSldViewPr>
      <p:cViewPr>
        <p:scale>
          <a:sx n="58" d="100"/>
          <a:sy n="58" d="100"/>
        </p:scale>
        <p:origin x="1312" y="9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0FAD6C-D371-C64D-9BEA-4DBEC8D5DE5D}" type="datetimeFigureOut">
              <a:t>19.05.2026</a:t>
            </a:fld>
            <a:endParaRPr lang="ru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714970-F413-224A-A96E-C54CE867D5FD}" type="slidenum"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427636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714970-F413-224A-A96E-C54CE867D5FD}" type="slidenum">
              <a:t>2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137810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714970-F413-224A-A96E-C54CE867D5FD}" type="slidenum">
              <a:t>4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411423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714970-F413-224A-A96E-C54CE867D5FD}" type="slidenum">
              <a:t>8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1656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B78EE-3AEE-3AAB-85B2-6D2586B6E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4607FB6-0E99-5E84-9E2D-C6A9DEEE76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F483605-2035-F8B6-211A-0C72A95CC8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86858ED-227D-3C6A-59D9-9E30CAFFCA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714970-F413-224A-A96E-C54CE867D5FD}" type="slidenum">
              <a:t>9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4082630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714970-F413-224A-A96E-C54CE867D5FD}" type="slidenum">
              <a:t>11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997583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microsoft.com/office/2007/relationships/hdphoto" Target="../media/hdphoto1.wdp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067800" y="-1104900"/>
            <a:ext cx="24031566" cy="20516950"/>
          </a:xfrm>
          <a:custGeom>
            <a:avLst/>
            <a:gdLst/>
            <a:ahLst/>
            <a:cxnLst/>
            <a:rect l="l" t="t" r="r" b="b"/>
            <a:pathLst>
              <a:path w="24031566" h="20516950">
                <a:moveTo>
                  <a:pt x="0" y="0"/>
                </a:moveTo>
                <a:lnTo>
                  <a:pt x="24031567" y="0"/>
                </a:lnTo>
                <a:lnTo>
                  <a:pt x="24031567" y="20516950"/>
                </a:lnTo>
                <a:lnTo>
                  <a:pt x="0" y="205169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960375" y="3467100"/>
            <a:ext cx="10472342" cy="2045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26"/>
              </a:lnSpc>
            </a:pPr>
            <a:r>
              <a:rPr lang="uk-UA" sz="6000" b="1">
                <a:solidFill>
                  <a:srgbClr val="FFFFFF"/>
                </a:solidFill>
                <a:latin typeface="Geologica Black" pitchFamily="2" charset="0"/>
                <a:ea typeface="Kollektif Bold"/>
                <a:cs typeface="Kollektif Bold"/>
                <a:sym typeface="Kollektif Bold"/>
              </a:rPr>
              <a:t>КУРСОВИЙ ПРОЕКТ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59921"/>
            <a:ext cx="1790700" cy="18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uk-UA" sz="1400" b="1" spc="-58">
                <a:solidFill>
                  <a:srgbClr val="FFFFFF"/>
                </a:solidFill>
                <a:latin typeface="Geologica" pitchFamily="2" charset="0"/>
                <a:ea typeface="Kollektif Bold"/>
                <a:cs typeface="Kollektif Bold"/>
                <a:sym typeface="Kollektif Bold"/>
              </a:rPr>
              <a:t>ОНУ ім. Мечникова</a:t>
            </a:r>
            <a:endParaRPr lang="en-US" sz="1400" b="1" spc="-58">
              <a:solidFill>
                <a:srgbClr val="FFFFFF"/>
              </a:solidFill>
              <a:latin typeface="Geologica" pitchFamily="2" charset="0"/>
              <a:ea typeface="Kollektif Bold"/>
              <a:cs typeface="Kollektif Bold"/>
              <a:sym typeface="Kollektif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6535401" y="432599"/>
            <a:ext cx="723900" cy="18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Geologica" pitchFamily="2" charset="0"/>
                <a:ea typeface="Kollektif Bold"/>
                <a:cs typeface="Kollektif Bold"/>
                <a:sym typeface="Kollektif Bold"/>
              </a:rPr>
              <a:t>2026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AB6A9879-D402-0034-DAE3-5D34FBD27D3D}"/>
              </a:ext>
            </a:extLst>
          </p:cNvPr>
          <p:cNvSpPr txBox="1"/>
          <p:nvPr/>
        </p:nvSpPr>
        <p:spPr>
          <a:xfrm>
            <a:off x="4697987" y="5512147"/>
            <a:ext cx="8841225" cy="5643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uk-UA" sz="3600" b="1">
                <a:solidFill>
                  <a:schemeClr val="bg1"/>
                </a:solidFill>
                <a:latin typeface="Geologica" pitchFamily="2" charset="0"/>
                <a:ea typeface="DM Sans"/>
              </a:rPr>
              <a:t>«Приватна детективна агенція»</a:t>
            </a:r>
            <a:endParaRPr lang="en-US" sz="3575" b="1" spc="-150">
              <a:solidFill>
                <a:schemeClr val="bg1"/>
              </a:solidFill>
              <a:latin typeface="Geologica" pitchFamily="2" charset="0"/>
              <a:ea typeface="Kollektif Bold"/>
              <a:cs typeface="Kollektif Bold"/>
              <a:sym typeface="Kollektif Bold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4588A8D9-D771-149C-421A-9E61BA403C56}"/>
              </a:ext>
            </a:extLst>
          </p:cNvPr>
          <p:cNvSpPr txBox="1"/>
          <p:nvPr/>
        </p:nvSpPr>
        <p:spPr>
          <a:xfrm>
            <a:off x="4775933" y="6675176"/>
            <a:ext cx="8841225" cy="5236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uk-UA" sz="2400" spc="-150">
                <a:solidFill>
                  <a:schemeClr val="bg1"/>
                </a:solidFill>
                <a:latin typeface="Geologica Thin" pitchFamily="2" charset="0"/>
                <a:ea typeface="Kollektif Bold"/>
                <a:cs typeface="Kollektif Bold"/>
                <a:sym typeface="Kollektif Bold"/>
              </a:rPr>
              <a:t>МОВЧАН ІЛЛЯ 123КІ</a:t>
            </a:r>
            <a:endParaRPr lang="en-US" sz="2400" spc="-150">
              <a:solidFill>
                <a:schemeClr val="bg1"/>
              </a:solidFill>
              <a:latin typeface="Geologica Thin" pitchFamily="2" charset="0"/>
              <a:ea typeface="Kollektif Bold"/>
              <a:cs typeface="Kollektif Bold"/>
              <a:sym typeface="Kollektif Bold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01E38EA8-D81F-8CCD-B4FF-34440442BD2B}"/>
              </a:ext>
            </a:extLst>
          </p:cNvPr>
          <p:cNvSpPr txBox="1"/>
          <p:nvPr/>
        </p:nvSpPr>
        <p:spPr>
          <a:xfrm>
            <a:off x="8248650" y="470767"/>
            <a:ext cx="1790700" cy="18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Geologica" pitchFamily="2" charset="0"/>
                <a:ea typeface="Kollektif Bold"/>
                <a:cs typeface="Kollektif Bold"/>
                <a:sym typeface="Kollektif Bold"/>
              </a:rPr>
              <a:t>CASEFLOW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2506857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1028700" y="4192337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028700" y="5877816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1028700" y="7563296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1028700" y="9248775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14531076" y="2677043"/>
            <a:ext cx="2728224" cy="1345108"/>
          </a:xfrm>
          <a:custGeom>
            <a:avLst/>
            <a:gdLst/>
            <a:ahLst/>
            <a:cxnLst/>
            <a:rect l="l" t="t" r="r" b="b"/>
            <a:pathLst>
              <a:path w="2728224" h="1345108">
                <a:moveTo>
                  <a:pt x="0" y="0"/>
                </a:moveTo>
                <a:lnTo>
                  <a:pt x="2728224" y="0"/>
                </a:lnTo>
                <a:lnTo>
                  <a:pt x="2728224" y="1345108"/>
                </a:lnTo>
                <a:lnTo>
                  <a:pt x="0" y="13451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8124" t="-133599" r="-58325" b="-92134"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028700" y="2920337"/>
            <a:ext cx="17259300" cy="829945"/>
            <a:chOff x="0" y="-38100"/>
            <a:chExt cx="10873631" cy="1106593"/>
          </a:xfrm>
        </p:grpSpPr>
        <p:sp>
          <p:nvSpPr>
            <p:cNvPr id="9" name="TextBox 9"/>
            <p:cNvSpPr txBox="1"/>
            <p:nvPr/>
          </p:nvSpPr>
          <p:spPr>
            <a:xfrm>
              <a:off x="0" y="-38100"/>
              <a:ext cx="5784868" cy="68309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algn="just">
                <a:lnSpc>
                  <a:spcPts val="4160"/>
                </a:lnSpc>
                <a:spcBef>
                  <a:spcPct val="0"/>
                </a:spcBef>
              </a:pPr>
              <a:r>
                <a:rPr lang="uk-UA" sz="2800" b="1">
                  <a:solidFill>
                    <a:srgbClr val="FFFFFF"/>
                  </a:solidFill>
                  <a:latin typeface="Geologica SemiBold" pitchFamily="2" charset="0"/>
                  <a:ea typeface="Kollektif Bold"/>
                  <a:cs typeface="Kollektif Bold"/>
                  <a:sym typeface="Kollektif Bold"/>
                </a:rPr>
                <a:t>Автоматизація роботи зі справами</a:t>
              </a:r>
              <a:endParaRPr lang="en-US" sz="2800" b="1">
                <a:solidFill>
                  <a:srgbClr val="FFFFFF"/>
                </a:solidFill>
                <a:latin typeface="Geologica SemiBold" pitchFamily="2" charset="0"/>
                <a:ea typeface="Kollektif Bold"/>
                <a:cs typeface="Kollektif Bold"/>
                <a:sym typeface="Kollektif Bold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596688"/>
              <a:ext cx="10873631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Geologica Thin" pitchFamily="2" charset="0"/>
                  <a:ea typeface="Kollektif"/>
                  <a:cs typeface="Kollektif"/>
                  <a:sym typeface="Kollektif"/>
                </a:rPr>
                <a:t>- </a:t>
              </a:r>
              <a:r>
                <a:rPr lang="ru-RU" sz="2100">
                  <a:solidFill>
                    <a:srgbClr val="FFFFFF"/>
                  </a:solidFill>
                  <a:latin typeface="Geologica Thin" pitchFamily="2" charset="0"/>
                  <a:ea typeface="Kollektif"/>
                  <a:cs typeface="Kollektif"/>
                  <a:sym typeface="Kollektif"/>
                </a:rPr>
                <a:t>автоматизувати та систематизувати процес ведення детективних справ; </a:t>
              </a:r>
              <a:endParaRPr lang="en-US" sz="2100" strike="noStrike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1152525"/>
            <a:ext cx="8591470" cy="875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</a:pPr>
            <a:r>
              <a:rPr lang="uk-UA" sz="4800" b="1" u="none" strike="noStrike">
                <a:solidFill>
                  <a:srgbClr val="FFFFFF"/>
                </a:solidFill>
                <a:latin typeface="Geologica" pitchFamily="2" charset="0"/>
                <a:ea typeface="Kollektif"/>
                <a:cs typeface="Kollektif"/>
                <a:sym typeface="Kollektif"/>
              </a:rPr>
              <a:t>МЕТА</a:t>
            </a:r>
            <a:endParaRPr lang="en-US" sz="5600" b="1" u="none" strike="noStrike">
              <a:solidFill>
                <a:srgbClr val="FFFFFF"/>
              </a:solidFill>
              <a:latin typeface="Geologica" pitchFamily="2" charset="0"/>
              <a:ea typeface="Kollektif"/>
              <a:cs typeface="Kollektif"/>
              <a:sym typeface="Kollektif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028700" y="4634391"/>
            <a:ext cx="13502376" cy="801370"/>
            <a:chOff x="0" y="0"/>
            <a:chExt cx="10873631" cy="1068493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38100"/>
              <a:ext cx="4408098" cy="6824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4160"/>
                </a:lnSpc>
                <a:spcBef>
                  <a:spcPct val="0"/>
                </a:spcBef>
              </a:pPr>
              <a:r>
                <a:rPr lang="ru-RU" sz="2800" b="1">
                  <a:solidFill>
                    <a:srgbClr val="FFFFFF"/>
                  </a:solidFill>
                  <a:latin typeface="Geologica SemiBold" pitchFamily="2" charset="0"/>
                  <a:ea typeface="Kollektif Bold"/>
                  <a:cs typeface="Kollektif Bold"/>
                  <a:sym typeface="Kollektif Bold"/>
                </a:rPr>
                <a:t>Облік даних агенства</a:t>
              </a:r>
              <a:endParaRPr lang="en-US" sz="2800" b="1">
                <a:solidFill>
                  <a:srgbClr val="FFFFFF"/>
                </a:solidFill>
                <a:latin typeface="Geologica SemiBold" pitchFamily="2" charset="0"/>
                <a:ea typeface="Kollektif Bold"/>
                <a:cs typeface="Kollektif Bold"/>
                <a:sym typeface="Kollektif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596688"/>
              <a:ext cx="10873631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Geologica Thin" pitchFamily="2" charset="0"/>
                  <a:ea typeface="Kollektif"/>
                  <a:cs typeface="Kollektif"/>
                  <a:sym typeface="Kollektif"/>
                </a:rPr>
                <a:t>- </a:t>
              </a:r>
              <a:r>
                <a:rPr lang="ru-RU" sz="2100">
                  <a:solidFill>
                    <a:srgbClr val="FFFFFF"/>
                  </a:solidFill>
                  <a:latin typeface="Geologica Thin" pitchFamily="2" charset="0"/>
                  <a:ea typeface="Kollektif"/>
                  <a:cs typeface="Kollektif"/>
                  <a:sym typeface="Kollektif"/>
                </a:rPr>
                <a:t>забезпечувати облік клієнтів, детективів, підозрюваних, доказів і звітів;</a:t>
              </a:r>
              <a:endParaRPr lang="en-US" sz="2100" strike="noStrike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28700" y="6291296"/>
            <a:ext cx="13502376" cy="829945"/>
            <a:chOff x="0" y="-38100"/>
            <a:chExt cx="10873631" cy="1106593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38100"/>
              <a:ext cx="6412622" cy="6789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just">
                <a:lnSpc>
                  <a:spcPts val="4160"/>
                </a:lnSpc>
                <a:spcBef>
                  <a:spcPct val="0"/>
                </a:spcBef>
              </a:pPr>
              <a:r>
                <a:rPr lang="uk-UA" sz="2800" b="1">
                  <a:solidFill>
                    <a:srgbClr val="FFFFFF"/>
                  </a:solidFill>
                  <a:latin typeface="Geologica SemiBold" pitchFamily="2" charset="0"/>
                  <a:ea typeface="Kollektif Bold"/>
                  <a:cs typeface="Kollektif Bold"/>
                  <a:sym typeface="Kollektif Bold"/>
                </a:rPr>
                <a:t>Контроль і супровід розслідування</a:t>
              </a:r>
              <a:endParaRPr lang="en-US" sz="2800" b="1">
                <a:solidFill>
                  <a:srgbClr val="FFFFFF"/>
                </a:solidFill>
                <a:latin typeface="Geologica SemiBold" pitchFamily="2" charset="0"/>
                <a:ea typeface="Kollektif Bold"/>
                <a:cs typeface="Kollektif Bold"/>
                <a:sym typeface="Kollektif Bold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596688"/>
              <a:ext cx="10873631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Geologica Thin" pitchFamily="2" charset="0"/>
                  <a:ea typeface="Kollektif"/>
                  <a:cs typeface="Kollektif"/>
                  <a:sym typeface="Kollektif"/>
                </a:rPr>
                <a:t>- </a:t>
              </a:r>
              <a:r>
                <a:rPr lang="ru-RU" sz="2100">
                  <a:solidFill>
                    <a:srgbClr val="FFFFFF"/>
                  </a:solidFill>
                  <a:latin typeface="Geologica Thin" pitchFamily="2" charset="0"/>
                  <a:ea typeface="Kollektif"/>
                  <a:cs typeface="Kollektif"/>
                  <a:sym typeface="Kollektif"/>
                </a:rPr>
                <a:t>надавати зручний інструментарій для контролю, пошуку, аналізу та супроводу розслідувань; </a:t>
              </a:r>
              <a:endParaRPr lang="en-US" sz="2100" strike="noStrike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28700" y="7976775"/>
            <a:ext cx="15963900" cy="826123"/>
            <a:chOff x="0" y="-38100"/>
            <a:chExt cx="21285200" cy="1101497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38100"/>
              <a:ext cx="12547600" cy="6789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algn="just">
                <a:lnSpc>
                  <a:spcPts val="4160"/>
                </a:lnSpc>
                <a:spcBef>
                  <a:spcPct val="0"/>
                </a:spcBef>
              </a:pPr>
              <a:r>
                <a:rPr lang="ru-RU" sz="2800" b="1">
                  <a:solidFill>
                    <a:srgbClr val="FFFFFF"/>
                  </a:solidFill>
                  <a:latin typeface="Geologica SemiBold" pitchFamily="2" charset="0"/>
                  <a:ea typeface="Kollektif Bold"/>
                  <a:cs typeface="Kollektif Bold"/>
                  <a:sym typeface="Kollektif Bold"/>
                </a:rPr>
                <a:t>Захист і розмежування доступу</a:t>
              </a:r>
              <a:endParaRPr lang="en-US" sz="2800" b="1">
                <a:solidFill>
                  <a:srgbClr val="FFFFFF"/>
                </a:solidFill>
                <a:latin typeface="Geologica SemiBold" pitchFamily="2" charset="0"/>
                <a:ea typeface="Kollektif Bold"/>
                <a:cs typeface="Kollektif Bold"/>
                <a:sym typeface="Kollektif Bold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596688"/>
              <a:ext cx="21285200" cy="46670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Geologica Thin" pitchFamily="2" charset="0"/>
                  <a:ea typeface="Kollektif"/>
                  <a:cs typeface="Kollektif"/>
                  <a:sym typeface="Kollektif"/>
                </a:rPr>
                <a:t>- </a:t>
              </a:r>
              <a:r>
                <a:rPr lang="ru-RU" sz="2100">
                  <a:solidFill>
                    <a:srgbClr val="FFFFFF"/>
                  </a:solidFill>
                  <a:latin typeface="Geologica Thin" pitchFamily="2" charset="0"/>
                  <a:ea typeface="Kollektif"/>
                  <a:cs typeface="Kollektif"/>
                  <a:sym typeface="Kollektif"/>
                </a:rPr>
                <a:t>забезпечувати безпечне зберігання даних і розмежування прав доступу для різних категорій користувачів.</a:t>
              </a:r>
              <a:endParaRPr lang="en-US" sz="2100" strike="noStrike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endParaRPr>
            </a:p>
          </p:txBody>
        </p:sp>
      </p:grpSp>
      <p:sp>
        <p:nvSpPr>
          <p:cNvPr id="24" name="Freeform 24"/>
          <p:cNvSpPr/>
          <p:nvPr/>
        </p:nvSpPr>
        <p:spPr>
          <a:xfrm>
            <a:off x="14531076" y="4363787"/>
            <a:ext cx="2728224" cy="1345108"/>
          </a:xfrm>
          <a:custGeom>
            <a:avLst/>
            <a:gdLst/>
            <a:ahLst/>
            <a:cxnLst/>
            <a:rect l="l" t="t" r="r" b="b"/>
            <a:pathLst>
              <a:path w="2728224" h="1345108">
                <a:moveTo>
                  <a:pt x="0" y="0"/>
                </a:moveTo>
                <a:lnTo>
                  <a:pt x="2728224" y="0"/>
                </a:lnTo>
                <a:lnTo>
                  <a:pt x="2728224" y="1345107"/>
                </a:lnTo>
                <a:lnTo>
                  <a:pt x="0" y="13451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9228" t="-212086" r="-49065" b="-136194"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4531076" y="6049266"/>
            <a:ext cx="2728224" cy="1345108"/>
          </a:xfrm>
          <a:custGeom>
            <a:avLst/>
            <a:gdLst/>
            <a:ahLst/>
            <a:cxnLst/>
            <a:rect l="l" t="t" r="r" b="b"/>
            <a:pathLst>
              <a:path w="2728224" h="1345108">
                <a:moveTo>
                  <a:pt x="0" y="0"/>
                </a:moveTo>
                <a:lnTo>
                  <a:pt x="2728224" y="0"/>
                </a:lnTo>
                <a:lnTo>
                  <a:pt x="2728224" y="1345108"/>
                </a:lnTo>
                <a:lnTo>
                  <a:pt x="0" y="13451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9215" t="-131620" r="-67700" b="-160928"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4531076" y="7733481"/>
            <a:ext cx="2728224" cy="1345108"/>
          </a:xfrm>
          <a:custGeom>
            <a:avLst/>
            <a:gdLst/>
            <a:ahLst/>
            <a:cxnLst/>
            <a:rect l="l" t="t" r="r" b="b"/>
            <a:pathLst>
              <a:path w="2728224" h="1345108">
                <a:moveTo>
                  <a:pt x="0" y="0"/>
                </a:moveTo>
                <a:lnTo>
                  <a:pt x="2728224" y="0"/>
                </a:lnTo>
                <a:lnTo>
                  <a:pt x="2728224" y="1345108"/>
                </a:lnTo>
                <a:lnTo>
                  <a:pt x="0" y="13451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135" t="-303102" r="-141783" b="-85860"/>
            </a:stretch>
          </a:blipFill>
        </p:spPr>
      </p:sp>
      <p:sp>
        <p:nvSpPr>
          <p:cNvPr id="27" name="TextBox 5">
            <a:extLst>
              <a:ext uri="{FF2B5EF4-FFF2-40B4-BE49-F238E27FC236}">
                <a16:creationId xmlns:a16="http://schemas.microsoft.com/office/drawing/2014/main" id="{274A227F-1588-AA31-3420-38F05A8EF8BA}"/>
              </a:ext>
            </a:extLst>
          </p:cNvPr>
          <p:cNvSpPr txBox="1"/>
          <p:nvPr/>
        </p:nvSpPr>
        <p:spPr>
          <a:xfrm>
            <a:off x="1028700" y="459921"/>
            <a:ext cx="1790700" cy="18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uk-UA" sz="1400" b="1" spc="-58">
                <a:solidFill>
                  <a:srgbClr val="FFFFFF"/>
                </a:solidFill>
                <a:latin typeface="Geologica" pitchFamily="2" charset="0"/>
                <a:ea typeface="Kollektif Bold"/>
                <a:cs typeface="Kollektif Bold"/>
                <a:sym typeface="Kollektif Bold"/>
              </a:rPr>
              <a:t>ОНУ ім. Мечникова</a:t>
            </a:r>
            <a:endParaRPr lang="en-US" sz="1400" b="1" spc="-58">
              <a:solidFill>
                <a:srgbClr val="FFFFFF"/>
              </a:solidFill>
              <a:latin typeface="Geologica" pitchFamily="2" charset="0"/>
              <a:ea typeface="Kollektif Bold"/>
              <a:cs typeface="Kollektif Bold"/>
              <a:sym typeface="Kollektif Bold"/>
            </a:endParaRPr>
          </a:p>
        </p:txBody>
      </p:sp>
      <p:sp>
        <p:nvSpPr>
          <p:cNvPr id="28" name="TextBox 6">
            <a:extLst>
              <a:ext uri="{FF2B5EF4-FFF2-40B4-BE49-F238E27FC236}">
                <a16:creationId xmlns:a16="http://schemas.microsoft.com/office/drawing/2014/main" id="{5499071A-74CF-6C3B-DCD1-8E0463494EF9}"/>
              </a:ext>
            </a:extLst>
          </p:cNvPr>
          <p:cNvSpPr txBox="1"/>
          <p:nvPr/>
        </p:nvSpPr>
        <p:spPr>
          <a:xfrm>
            <a:off x="16535401" y="432599"/>
            <a:ext cx="723900" cy="18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Geologica" pitchFamily="2" charset="0"/>
                <a:ea typeface="Kollektif Bold"/>
                <a:cs typeface="Kollektif Bold"/>
                <a:sym typeface="Kollektif Bold"/>
              </a:rPr>
              <a:t>2026</a:t>
            </a:r>
          </a:p>
        </p:txBody>
      </p:sp>
      <p:sp>
        <p:nvSpPr>
          <p:cNvPr id="29" name="TextBox 5">
            <a:extLst>
              <a:ext uri="{FF2B5EF4-FFF2-40B4-BE49-F238E27FC236}">
                <a16:creationId xmlns:a16="http://schemas.microsoft.com/office/drawing/2014/main" id="{ED651159-3776-8A45-96E4-E366830F8775}"/>
              </a:ext>
            </a:extLst>
          </p:cNvPr>
          <p:cNvSpPr txBox="1"/>
          <p:nvPr/>
        </p:nvSpPr>
        <p:spPr>
          <a:xfrm>
            <a:off x="8248650" y="470767"/>
            <a:ext cx="1790700" cy="18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Geologica" pitchFamily="2" charset="0"/>
                <a:ea typeface="Kollektif Bold"/>
                <a:cs typeface="Kollektif Bold"/>
                <a:sym typeface="Kollektif Bold"/>
              </a:rPr>
              <a:t>CASEFLOW</a:t>
            </a: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298189" y="-2226021"/>
            <a:ext cx="20787936" cy="17747701"/>
          </a:xfrm>
          <a:custGeom>
            <a:avLst/>
            <a:gdLst/>
            <a:ahLst/>
            <a:cxnLst/>
            <a:rect l="l" t="t" r="r" b="b"/>
            <a:pathLst>
              <a:path w="20787936" h="17747701">
                <a:moveTo>
                  <a:pt x="0" y="0"/>
                </a:moveTo>
                <a:lnTo>
                  <a:pt x="20787936" y="0"/>
                </a:lnTo>
                <a:lnTo>
                  <a:pt x="20787936" y="17747700"/>
                </a:lnTo>
                <a:lnTo>
                  <a:pt x="0" y="177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2196286"/>
            <a:ext cx="7780774" cy="2185214"/>
            <a:chOff x="0" y="0"/>
            <a:chExt cx="1379590" cy="72958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79590" cy="729585"/>
            </a:xfrm>
            <a:custGeom>
              <a:avLst/>
              <a:gdLst/>
              <a:ahLst/>
              <a:cxnLst/>
              <a:rect l="l" t="t" r="r" b="b"/>
              <a:pathLst>
                <a:path w="1379590" h="729585">
                  <a:moveTo>
                    <a:pt x="50745" y="0"/>
                  </a:moveTo>
                  <a:lnTo>
                    <a:pt x="1328845" y="0"/>
                  </a:lnTo>
                  <a:cubicBezTo>
                    <a:pt x="1356871" y="0"/>
                    <a:pt x="1379590" y="22719"/>
                    <a:pt x="1379590" y="50745"/>
                  </a:cubicBezTo>
                  <a:lnTo>
                    <a:pt x="1379590" y="678840"/>
                  </a:lnTo>
                  <a:cubicBezTo>
                    <a:pt x="1379590" y="706866"/>
                    <a:pt x="1356871" y="729585"/>
                    <a:pt x="1328845" y="729585"/>
                  </a:cubicBezTo>
                  <a:lnTo>
                    <a:pt x="50745" y="729585"/>
                  </a:lnTo>
                  <a:cubicBezTo>
                    <a:pt x="22719" y="729585"/>
                    <a:pt x="0" y="706866"/>
                    <a:pt x="0" y="678840"/>
                  </a:cubicBezTo>
                  <a:lnTo>
                    <a:pt x="0" y="50745"/>
                  </a:lnTo>
                  <a:cubicBezTo>
                    <a:pt x="0" y="22719"/>
                    <a:pt x="22719" y="0"/>
                    <a:pt x="50745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379590" cy="777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471013" y="2400300"/>
            <a:ext cx="6896148" cy="498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ts val="4160"/>
              </a:lnSpc>
              <a:spcBef>
                <a:spcPct val="0"/>
              </a:spcBef>
            </a:pPr>
            <a:r>
              <a:rPr lang="ru-RU" sz="2800" b="1">
                <a:solidFill>
                  <a:srgbClr val="FFFFFF"/>
                </a:solidFill>
                <a:latin typeface="Geologica SemiBold" pitchFamily="2" charset="0"/>
                <a:ea typeface="Kollektif Bold"/>
                <a:cs typeface="Kollektif Bold"/>
                <a:sym typeface="Kollektif Bold"/>
              </a:rPr>
              <a:t>Аналіз предметної області</a:t>
            </a:r>
            <a:endParaRPr lang="en-US" sz="2800" b="1" u="none" strike="noStrike">
              <a:solidFill>
                <a:srgbClr val="FFFFFF"/>
              </a:solidFill>
              <a:latin typeface="Geologica SemiBold" pitchFamily="2" charset="0"/>
              <a:ea typeface="Kollektif Bold"/>
              <a:cs typeface="Kollektif Bold"/>
              <a:sym typeface="Kollektif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471013" y="2921635"/>
            <a:ext cx="6896148" cy="109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>
              <a:lnSpc>
                <a:spcPts val="2940"/>
              </a:lnSpc>
              <a:spcBef>
                <a:spcPct val="0"/>
              </a:spcBef>
            </a:pPr>
            <a:r>
              <a:rPr lang="uk-UA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провести аналіз предметної області «Детективне агентство» та визначити основні процеси, які має підтримувати система.</a:t>
            </a:r>
            <a:endParaRPr lang="en-US" sz="2100" u="none" strike="noStrike">
              <a:solidFill>
                <a:srgbClr val="FFFFFF"/>
              </a:solidFill>
              <a:latin typeface="Geologica Thin" pitchFamily="2" charset="0"/>
              <a:ea typeface="Kollektif"/>
              <a:cs typeface="Kollektif"/>
              <a:sym typeface="Kollektif"/>
            </a:endParaRPr>
          </a:p>
        </p:txBody>
      </p:sp>
      <p:sp>
        <p:nvSpPr>
          <p:cNvPr id="26" name="TextBox 5">
            <a:extLst>
              <a:ext uri="{FF2B5EF4-FFF2-40B4-BE49-F238E27FC236}">
                <a16:creationId xmlns:a16="http://schemas.microsoft.com/office/drawing/2014/main" id="{CA9D3410-9670-B60C-5867-A5AF1F228967}"/>
              </a:ext>
            </a:extLst>
          </p:cNvPr>
          <p:cNvSpPr txBox="1"/>
          <p:nvPr/>
        </p:nvSpPr>
        <p:spPr>
          <a:xfrm>
            <a:off x="1028700" y="459921"/>
            <a:ext cx="1790700" cy="18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uk-UA" sz="1400" b="1" spc="-58">
                <a:solidFill>
                  <a:srgbClr val="FFFFFF"/>
                </a:solidFill>
                <a:latin typeface="Geologica" pitchFamily="2" charset="0"/>
                <a:ea typeface="Kollektif Bold"/>
                <a:cs typeface="Kollektif Bold"/>
                <a:sym typeface="Kollektif Bold"/>
              </a:rPr>
              <a:t>ОНУ ім. Мечникова</a:t>
            </a:r>
            <a:endParaRPr lang="en-US" sz="1400" b="1" spc="-58">
              <a:solidFill>
                <a:srgbClr val="FFFFFF"/>
              </a:solidFill>
              <a:latin typeface="Geologica" pitchFamily="2" charset="0"/>
              <a:ea typeface="Kollektif Bold"/>
              <a:cs typeface="Kollektif Bold"/>
              <a:sym typeface="Kollektif Bold"/>
            </a:endParaRPr>
          </a:p>
        </p:txBody>
      </p:sp>
      <p:sp>
        <p:nvSpPr>
          <p:cNvPr id="27" name="TextBox 6">
            <a:extLst>
              <a:ext uri="{FF2B5EF4-FFF2-40B4-BE49-F238E27FC236}">
                <a16:creationId xmlns:a16="http://schemas.microsoft.com/office/drawing/2014/main" id="{D18CE2F2-29FD-B7D3-FA1E-D647077FA44A}"/>
              </a:ext>
            </a:extLst>
          </p:cNvPr>
          <p:cNvSpPr txBox="1"/>
          <p:nvPr/>
        </p:nvSpPr>
        <p:spPr>
          <a:xfrm>
            <a:off x="16535401" y="432599"/>
            <a:ext cx="723900" cy="18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Geologica" pitchFamily="2" charset="0"/>
                <a:ea typeface="Kollektif Bold"/>
                <a:cs typeface="Kollektif Bold"/>
                <a:sym typeface="Kollektif Bold"/>
              </a:rPr>
              <a:t>2026</a:t>
            </a:r>
          </a:p>
        </p:txBody>
      </p:sp>
      <p:sp>
        <p:nvSpPr>
          <p:cNvPr id="28" name="TextBox 5">
            <a:extLst>
              <a:ext uri="{FF2B5EF4-FFF2-40B4-BE49-F238E27FC236}">
                <a16:creationId xmlns:a16="http://schemas.microsoft.com/office/drawing/2014/main" id="{24BFBBEE-A041-54C3-F3D5-FE158767573B}"/>
              </a:ext>
            </a:extLst>
          </p:cNvPr>
          <p:cNvSpPr txBox="1"/>
          <p:nvPr/>
        </p:nvSpPr>
        <p:spPr>
          <a:xfrm>
            <a:off x="8248650" y="470767"/>
            <a:ext cx="1790700" cy="18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Geologica" pitchFamily="2" charset="0"/>
                <a:ea typeface="Kollektif Bold"/>
                <a:cs typeface="Kollektif Bold"/>
                <a:sym typeface="Kollektif Bold"/>
              </a:rPr>
              <a:t>CASEFLOW</a:t>
            </a:r>
          </a:p>
        </p:txBody>
      </p:sp>
      <p:sp>
        <p:nvSpPr>
          <p:cNvPr id="29" name="TextBox 37">
            <a:extLst>
              <a:ext uri="{FF2B5EF4-FFF2-40B4-BE49-F238E27FC236}">
                <a16:creationId xmlns:a16="http://schemas.microsoft.com/office/drawing/2014/main" id="{CFD351AE-7FA7-E159-DA5C-9FE6201FA302}"/>
              </a:ext>
            </a:extLst>
          </p:cNvPr>
          <p:cNvSpPr txBox="1"/>
          <p:nvPr/>
        </p:nvSpPr>
        <p:spPr>
          <a:xfrm>
            <a:off x="-404157" y="1060439"/>
            <a:ext cx="19096314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600"/>
              </a:lnSpc>
            </a:pPr>
            <a:r>
              <a:rPr lang="uk-UA" sz="4800" b="1">
                <a:solidFill>
                  <a:srgbClr val="FFFFFF"/>
                </a:solidFill>
                <a:latin typeface="Geologica" pitchFamily="2" charset="0"/>
                <a:ea typeface="Kollektif Bold"/>
                <a:cs typeface="Kollektif Bold"/>
                <a:sym typeface="Kollektif Bold"/>
              </a:rPr>
              <a:t>ЗАВДАННЯ, ЯКІ НЕОБХІДНО ВИКОНАТИ</a:t>
            </a:r>
            <a:endParaRPr lang="en-US" sz="4800" b="1" u="none" strike="noStrike">
              <a:solidFill>
                <a:srgbClr val="FFFFFF"/>
              </a:solidFill>
              <a:latin typeface="Geologica" pitchFamily="2" charset="0"/>
              <a:ea typeface="Kollektif Bold"/>
              <a:cs typeface="Kollektif Bold"/>
              <a:sym typeface="Kollektif Bold"/>
            </a:endParaRPr>
          </a:p>
        </p:txBody>
      </p:sp>
      <p:grpSp>
        <p:nvGrpSpPr>
          <p:cNvPr id="33" name="Group 3">
            <a:extLst>
              <a:ext uri="{FF2B5EF4-FFF2-40B4-BE49-F238E27FC236}">
                <a16:creationId xmlns:a16="http://schemas.microsoft.com/office/drawing/2014/main" id="{C898631E-993A-2372-BF8C-AD64802D409D}"/>
              </a:ext>
            </a:extLst>
          </p:cNvPr>
          <p:cNvGrpSpPr/>
          <p:nvPr/>
        </p:nvGrpSpPr>
        <p:grpSpPr>
          <a:xfrm>
            <a:off x="9478526" y="2173677"/>
            <a:ext cx="7780774" cy="2185214"/>
            <a:chOff x="0" y="0"/>
            <a:chExt cx="1379590" cy="729585"/>
          </a:xfrm>
        </p:grpSpPr>
        <p:sp>
          <p:nvSpPr>
            <p:cNvPr id="34" name="Freeform 4">
              <a:extLst>
                <a:ext uri="{FF2B5EF4-FFF2-40B4-BE49-F238E27FC236}">
                  <a16:creationId xmlns:a16="http://schemas.microsoft.com/office/drawing/2014/main" id="{670949C1-F702-7668-0235-0BB2E4923DD8}"/>
                </a:ext>
              </a:extLst>
            </p:cNvPr>
            <p:cNvSpPr/>
            <p:nvPr/>
          </p:nvSpPr>
          <p:spPr>
            <a:xfrm>
              <a:off x="0" y="0"/>
              <a:ext cx="1379590" cy="729585"/>
            </a:xfrm>
            <a:custGeom>
              <a:avLst/>
              <a:gdLst/>
              <a:ahLst/>
              <a:cxnLst/>
              <a:rect l="l" t="t" r="r" b="b"/>
              <a:pathLst>
                <a:path w="1379590" h="729585">
                  <a:moveTo>
                    <a:pt x="50745" y="0"/>
                  </a:moveTo>
                  <a:lnTo>
                    <a:pt x="1328845" y="0"/>
                  </a:lnTo>
                  <a:cubicBezTo>
                    <a:pt x="1356871" y="0"/>
                    <a:pt x="1379590" y="22719"/>
                    <a:pt x="1379590" y="50745"/>
                  </a:cubicBezTo>
                  <a:lnTo>
                    <a:pt x="1379590" y="678840"/>
                  </a:lnTo>
                  <a:cubicBezTo>
                    <a:pt x="1379590" y="706866"/>
                    <a:pt x="1356871" y="729585"/>
                    <a:pt x="1328845" y="729585"/>
                  </a:cubicBezTo>
                  <a:lnTo>
                    <a:pt x="50745" y="729585"/>
                  </a:lnTo>
                  <a:cubicBezTo>
                    <a:pt x="22719" y="729585"/>
                    <a:pt x="0" y="706866"/>
                    <a:pt x="0" y="678840"/>
                  </a:cubicBezTo>
                  <a:lnTo>
                    <a:pt x="0" y="50745"/>
                  </a:lnTo>
                  <a:cubicBezTo>
                    <a:pt x="0" y="22719"/>
                    <a:pt x="22719" y="0"/>
                    <a:pt x="50745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35" name="TextBox 5">
              <a:extLst>
                <a:ext uri="{FF2B5EF4-FFF2-40B4-BE49-F238E27FC236}">
                  <a16:creationId xmlns:a16="http://schemas.microsoft.com/office/drawing/2014/main" id="{98FEE535-F72E-3C21-ED4A-04A2E0C70241}"/>
                </a:ext>
              </a:extLst>
            </p:cNvPr>
            <p:cNvSpPr txBox="1"/>
            <p:nvPr/>
          </p:nvSpPr>
          <p:spPr>
            <a:xfrm>
              <a:off x="0" y="-47625"/>
              <a:ext cx="1379590" cy="777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36" name="TextBox 15">
            <a:extLst>
              <a:ext uri="{FF2B5EF4-FFF2-40B4-BE49-F238E27FC236}">
                <a16:creationId xmlns:a16="http://schemas.microsoft.com/office/drawing/2014/main" id="{08BB5B66-7D43-529E-AA9D-BA34826A9FA9}"/>
              </a:ext>
            </a:extLst>
          </p:cNvPr>
          <p:cNvSpPr txBox="1"/>
          <p:nvPr/>
        </p:nvSpPr>
        <p:spPr>
          <a:xfrm>
            <a:off x="9920839" y="2377691"/>
            <a:ext cx="6896148" cy="498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ts val="4160"/>
              </a:lnSpc>
              <a:spcBef>
                <a:spcPct val="0"/>
              </a:spcBef>
            </a:pPr>
            <a:r>
              <a:rPr lang="uk-UA" sz="2800" b="1" u="none" strike="noStrike">
                <a:solidFill>
                  <a:srgbClr val="FFFFFF"/>
                </a:solidFill>
                <a:latin typeface="Geologica SemiBold" pitchFamily="2" charset="0"/>
                <a:ea typeface="Kollektif Bold"/>
                <a:cs typeface="Kollektif Bold"/>
                <a:sym typeface="Kollektif Bold"/>
              </a:rPr>
              <a:t>Визначення користувачів системи</a:t>
            </a:r>
            <a:endParaRPr lang="en-US" sz="2800" b="1" u="none" strike="noStrike">
              <a:solidFill>
                <a:srgbClr val="FFFFFF"/>
              </a:solidFill>
              <a:latin typeface="Geologica SemiBold" pitchFamily="2" charset="0"/>
              <a:ea typeface="Kollektif Bold"/>
              <a:cs typeface="Kollektif Bold"/>
              <a:sym typeface="Kollektif Bold"/>
            </a:endParaRPr>
          </a:p>
        </p:txBody>
      </p:sp>
      <p:sp>
        <p:nvSpPr>
          <p:cNvPr id="37" name="TextBox 16">
            <a:extLst>
              <a:ext uri="{FF2B5EF4-FFF2-40B4-BE49-F238E27FC236}">
                <a16:creationId xmlns:a16="http://schemas.microsoft.com/office/drawing/2014/main" id="{ABDC48F3-0D55-8050-9D80-381E8A71B4A1}"/>
              </a:ext>
            </a:extLst>
          </p:cNvPr>
          <p:cNvSpPr txBox="1"/>
          <p:nvPr/>
        </p:nvSpPr>
        <p:spPr>
          <a:xfrm>
            <a:off x="9920839" y="2899026"/>
            <a:ext cx="6896148" cy="109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>
              <a:lnSpc>
                <a:spcPts val="2940"/>
              </a:lnSpc>
              <a:spcBef>
                <a:spcPct val="0"/>
              </a:spcBef>
            </a:pPr>
            <a:r>
              <a:rPr lang="uk-UA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виділити основні категорії користувачів, а саме адміністратора та детектива, і визначити їхні функції в системі.</a:t>
            </a:r>
            <a:endParaRPr lang="en-US" sz="2100" u="none" strike="noStrike">
              <a:solidFill>
                <a:srgbClr val="FFFFFF"/>
              </a:solidFill>
              <a:latin typeface="Geologica Thin" pitchFamily="2" charset="0"/>
              <a:ea typeface="Kollektif"/>
              <a:cs typeface="Kollektif"/>
              <a:sym typeface="Kollektif"/>
            </a:endParaRPr>
          </a:p>
        </p:txBody>
      </p:sp>
      <p:grpSp>
        <p:nvGrpSpPr>
          <p:cNvPr id="38" name="Group 3">
            <a:extLst>
              <a:ext uri="{FF2B5EF4-FFF2-40B4-BE49-F238E27FC236}">
                <a16:creationId xmlns:a16="http://schemas.microsoft.com/office/drawing/2014/main" id="{079E22EB-F339-442F-676F-83A740E8210F}"/>
              </a:ext>
            </a:extLst>
          </p:cNvPr>
          <p:cNvGrpSpPr/>
          <p:nvPr/>
        </p:nvGrpSpPr>
        <p:grpSpPr>
          <a:xfrm>
            <a:off x="1028700" y="4851264"/>
            <a:ext cx="7780774" cy="2185214"/>
            <a:chOff x="0" y="0"/>
            <a:chExt cx="1379590" cy="729585"/>
          </a:xfrm>
        </p:grpSpPr>
        <p:sp>
          <p:nvSpPr>
            <p:cNvPr id="39" name="Freeform 4">
              <a:extLst>
                <a:ext uri="{FF2B5EF4-FFF2-40B4-BE49-F238E27FC236}">
                  <a16:creationId xmlns:a16="http://schemas.microsoft.com/office/drawing/2014/main" id="{46E8F58B-C795-7167-9517-414CA3F4DF57}"/>
                </a:ext>
              </a:extLst>
            </p:cNvPr>
            <p:cNvSpPr/>
            <p:nvPr/>
          </p:nvSpPr>
          <p:spPr>
            <a:xfrm>
              <a:off x="0" y="0"/>
              <a:ext cx="1379590" cy="729585"/>
            </a:xfrm>
            <a:custGeom>
              <a:avLst/>
              <a:gdLst/>
              <a:ahLst/>
              <a:cxnLst/>
              <a:rect l="l" t="t" r="r" b="b"/>
              <a:pathLst>
                <a:path w="1379590" h="729585">
                  <a:moveTo>
                    <a:pt x="50745" y="0"/>
                  </a:moveTo>
                  <a:lnTo>
                    <a:pt x="1328845" y="0"/>
                  </a:lnTo>
                  <a:cubicBezTo>
                    <a:pt x="1356871" y="0"/>
                    <a:pt x="1379590" y="22719"/>
                    <a:pt x="1379590" y="50745"/>
                  </a:cubicBezTo>
                  <a:lnTo>
                    <a:pt x="1379590" y="678840"/>
                  </a:lnTo>
                  <a:cubicBezTo>
                    <a:pt x="1379590" y="706866"/>
                    <a:pt x="1356871" y="729585"/>
                    <a:pt x="1328845" y="729585"/>
                  </a:cubicBezTo>
                  <a:lnTo>
                    <a:pt x="50745" y="729585"/>
                  </a:lnTo>
                  <a:cubicBezTo>
                    <a:pt x="22719" y="729585"/>
                    <a:pt x="0" y="706866"/>
                    <a:pt x="0" y="678840"/>
                  </a:cubicBezTo>
                  <a:lnTo>
                    <a:pt x="0" y="50745"/>
                  </a:lnTo>
                  <a:cubicBezTo>
                    <a:pt x="0" y="22719"/>
                    <a:pt x="22719" y="0"/>
                    <a:pt x="50745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0" name="TextBox 5">
              <a:extLst>
                <a:ext uri="{FF2B5EF4-FFF2-40B4-BE49-F238E27FC236}">
                  <a16:creationId xmlns:a16="http://schemas.microsoft.com/office/drawing/2014/main" id="{E9AB274D-3756-3C75-B1EF-DE552ECE3791}"/>
                </a:ext>
              </a:extLst>
            </p:cNvPr>
            <p:cNvSpPr txBox="1"/>
            <p:nvPr/>
          </p:nvSpPr>
          <p:spPr>
            <a:xfrm>
              <a:off x="0" y="-47625"/>
              <a:ext cx="1379590" cy="777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41" name="TextBox 15">
            <a:extLst>
              <a:ext uri="{FF2B5EF4-FFF2-40B4-BE49-F238E27FC236}">
                <a16:creationId xmlns:a16="http://schemas.microsoft.com/office/drawing/2014/main" id="{B0909EE2-BE0B-F2C0-8CFA-FC5FCB3E22E8}"/>
              </a:ext>
            </a:extLst>
          </p:cNvPr>
          <p:cNvSpPr txBox="1"/>
          <p:nvPr/>
        </p:nvSpPr>
        <p:spPr>
          <a:xfrm>
            <a:off x="1471013" y="5055278"/>
            <a:ext cx="6896148" cy="498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ts val="4160"/>
              </a:lnSpc>
              <a:spcBef>
                <a:spcPct val="0"/>
              </a:spcBef>
            </a:pPr>
            <a:r>
              <a:rPr lang="ru-RU" sz="2800" b="1">
                <a:solidFill>
                  <a:srgbClr val="FFFFFF"/>
                </a:solidFill>
                <a:latin typeface="Geologica SemiBold" pitchFamily="2" charset="0"/>
                <a:ea typeface="Kollektif Bold"/>
                <a:cs typeface="Kollektif Bold"/>
                <a:sym typeface="Kollektif Bold"/>
              </a:rPr>
              <a:t>Вибір архітектурної системи</a:t>
            </a:r>
            <a:endParaRPr lang="en-US" sz="2800" b="1" u="none" strike="noStrike">
              <a:solidFill>
                <a:srgbClr val="FFFFFF"/>
              </a:solidFill>
              <a:latin typeface="Geologica SemiBold" pitchFamily="2" charset="0"/>
              <a:ea typeface="Kollektif Bold"/>
              <a:cs typeface="Kollektif Bold"/>
              <a:sym typeface="Kollektif Bold"/>
            </a:endParaRPr>
          </a:p>
        </p:txBody>
      </p:sp>
      <p:sp>
        <p:nvSpPr>
          <p:cNvPr id="42" name="TextBox 16">
            <a:extLst>
              <a:ext uri="{FF2B5EF4-FFF2-40B4-BE49-F238E27FC236}">
                <a16:creationId xmlns:a16="http://schemas.microsoft.com/office/drawing/2014/main" id="{BB2F5F0A-905F-FF79-27C7-A9B3D4DF3E53}"/>
              </a:ext>
            </a:extLst>
          </p:cNvPr>
          <p:cNvSpPr txBox="1"/>
          <p:nvPr/>
        </p:nvSpPr>
        <p:spPr>
          <a:xfrm>
            <a:off x="1471013" y="5576613"/>
            <a:ext cx="6896148" cy="109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>
              <a:lnSpc>
                <a:spcPts val="2940"/>
              </a:lnSpc>
              <a:spcBef>
                <a:spcPct val="0"/>
              </a:spcBef>
            </a:pPr>
            <a:r>
              <a:rPr lang="uk-UA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обрати архітектуру інформаційної системи та шаблон проєктування для зручної реалізації й супроводу програми.</a:t>
            </a:r>
            <a:endParaRPr lang="en-US" sz="2100" u="none" strike="noStrike">
              <a:solidFill>
                <a:srgbClr val="FFFFFF"/>
              </a:solidFill>
              <a:latin typeface="Geologica Thin" pitchFamily="2" charset="0"/>
              <a:ea typeface="Kollektif"/>
              <a:cs typeface="Kollektif"/>
              <a:sym typeface="Kollektif"/>
            </a:endParaRPr>
          </a:p>
        </p:txBody>
      </p:sp>
      <p:grpSp>
        <p:nvGrpSpPr>
          <p:cNvPr id="43" name="Group 3">
            <a:extLst>
              <a:ext uri="{FF2B5EF4-FFF2-40B4-BE49-F238E27FC236}">
                <a16:creationId xmlns:a16="http://schemas.microsoft.com/office/drawing/2014/main" id="{EFA388E1-BE80-620F-FE5E-29C6DC82EBE5}"/>
              </a:ext>
            </a:extLst>
          </p:cNvPr>
          <p:cNvGrpSpPr/>
          <p:nvPr/>
        </p:nvGrpSpPr>
        <p:grpSpPr>
          <a:xfrm>
            <a:off x="9478526" y="4828655"/>
            <a:ext cx="7780774" cy="2185214"/>
            <a:chOff x="0" y="0"/>
            <a:chExt cx="1379590" cy="729585"/>
          </a:xfrm>
        </p:grpSpPr>
        <p:sp>
          <p:nvSpPr>
            <p:cNvPr id="44" name="Freeform 4">
              <a:extLst>
                <a:ext uri="{FF2B5EF4-FFF2-40B4-BE49-F238E27FC236}">
                  <a16:creationId xmlns:a16="http://schemas.microsoft.com/office/drawing/2014/main" id="{AE91ED59-798A-EFC0-3D81-57ECE0BB2776}"/>
                </a:ext>
              </a:extLst>
            </p:cNvPr>
            <p:cNvSpPr/>
            <p:nvPr/>
          </p:nvSpPr>
          <p:spPr>
            <a:xfrm>
              <a:off x="0" y="0"/>
              <a:ext cx="1379590" cy="729585"/>
            </a:xfrm>
            <a:custGeom>
              <a:avLst/>
              <a:gdLst/>
              <a:ahLst/>
              <a:cxnLst/>
              <a:rect l="l" t="t" r="r" b="b"/>
              <a:pathLst>
                <a:path w="1379590" h="729585">
                  <a:moveTo>
                    <a:pt x="50745" y="0"/>
                  </a:moveTo>
                  <a:lnTo>
                    <a:pt x="1328845" y="0"/>
                  </a:lnTo>
                  <a:cubicBezTo>
                    <a:pt x="1356871" y="0"/>
                    <a:pt x="1379590" y="22719"/>
                    <a:pt x="1379590" y="50745"/>
                  </a:cubicBezTo>
                  <a:lnTo>
                    <a:pt x="1379590" y="678840"/>
                  </a:lnTo>
                  <a:cubicBezTo>
                    <a:pt x="1379590" y="706866"/>
                    <a:pt x="1356871" y="729585"/>
                    <a:pt x="1328845" y="729585"/>
                  </a:cubicBezTo>
                  <a:lnTo>
                    <a:pt x="50745" y="729585"/>
                  </a:lnTo>
                  <a:cubicBezTo>
                    <a:pt x="22719" y="729585"/>
                    <a:pt x="0" y="706866"/>
                    <a:pt x="0" y="678840"/>
                  </a:cubicBezTo>
                  <a:lnTo>
                    <a:pt x="0" y="50745"/>
                  </a:lnTo>
                  <a:cubicBezTo>
                    <a:pt x="0" y="22719"/>
                    <a:pt x="22719" y="0"/>
                    <a:pt x="50745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5" name="TextBox 5">
              <a:extLst>
                <a:ext uri="{FF2B5EF4-FFF2-40B4-BE49-F238E27FC236}">
                  <a16:creationId xmlns:a16="http://schemas.microsoft.com/office/drawing/2014/main" id="{5B662F65-E838-ADFD-99B5-F838B8AE651E}"/>
                </a:ext>
              </a:extLst>
            </p:cNvPr>
            <p:cNvSpPr txBox="1"/>
            <p:nvPr/>
          </p:nvSpPr>
          <p:spPr>
            <a:xfrm>
              <a:off x="0" y="-47625"/>
              <a:ext cx="1379590" cy="777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46" name="TextBox 15">
            <a:extLst>
              <a:ext uri="{FF2B5EF4-FFF2-40B4-BE49-F238E27FC236}">
                <a16:creationId xmlns:a16="http://schemas.microsoft.com/office/drawing/2014/main" id="{583CE122-9AE9-AFEB-6978-7D02B2882723}"/>
              </a:ext>
            </a:extLst>
          </p:cNvPr>
          <p:cNvSpPr txBox="1"/>
          <p:nvPr/>
        </p:nvSpPr>
        <p:spPr>
          <a:xfrm>
            <a:off x="9920839" y="5032669"/>
            <a:ext cx="6896148" cy="498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ts val="4160"/>
              </a:lnSpc>
              <a:spcBef>
                <a:spcPct val="0"/>
              </a:spcBef>
            </a:pPr>
            <a:r>
              <a:rPr lang="ru-RU" sz="2800" b="1">
                <a:solidFill>
                  <a:srgbClr val="FFFFFF"/>
                </a:solidFill>
                <a:latin typeface="Geologica SemiBold" pitchFamily="2" charset="0"/>
                <a:ea typeface="Kollektif Bold"/>
                <a:cs typeface="Kollektif Bold"/>
                <a:sym typeface="Kollektif Bold"/>
              </a:rPr>
              <a:t>Проектування бази даних</a:t>
            </a:r>
            <a:endParaRPr lang="en-US" sz="2800" b="1" u="none" strike="noStrike">
              <a:solidFill>
                <a:srgbClr val="FFFFFF"/>
              </a:solidFill>
              <a:latin typeface="Geologica SemiBold" pitchFamily="2" charset="0"/>
              <a:ea typeface="Kollektif Bold"/>
              <a:cs typeface="Kollektif Bold"/>
              <a:sym typeface="Kollektif Bold"/>
            </a:endParaRPr>
          </a:p>
        </p:txBody>
      </p:sp>
      <p:sp>
        <p:nvSpPr>
          <p:cNvPr id="47" name="TextBox 16">
            <a:extLst>
              <a:ext uri="{FF2B5EF4-FFF2-40B4-BE49-F238E27FC236}">
                <a16:creationId xmlns:a16="http://schemas.microsoft.com/office/drawing/2014/main" id="{6FBD92E6-9FB2-7FC0-3A95-10FAFF834850}"/>
              </a:ext>
            </a:extLst>
          </p:cNvPr>
          <p:cNvSpPr txBox="1"/>
          <p:nvPr/>
        </p:nvSpPr>
        <p:spPr>
          <a:xfrm>
            <a:off x="9920839" y="5554004"/>
            <a:ext cx="6896148" cy="1093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>
              <a:lnSpc>
                <a:spcPts val="2940"/>
              </a:lnSpc>
              <a:spcBef>
                <a:spcPct val="0"/>
              </a:spcBef>
            </a:pPr>
            <a:r>
              <a:rPr lang="uk-UA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спроєктувати базу даних з урахуванням </a:t>
            </a:r>
          </a:p>
          <a:p>
            <a:pPr marL="0" lvl="1" indent="0">
              <a:lnSpc>
                <a:spcPts val="2940"/>
              </a:lnSpc>
              <a:spcBef>
                <a:spcPct val="0"/>
              </a:spcBef>
            </a:pPr>
            <a:r>
              <a:rPr lang="uk-UA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основних сутностей предметної області та зв’язків між ними.</a:t>
            </a:r>
            <a:endParaRPr lang="en-US" sz="2100" u="none" strike="noStrike">
              <a:solidFill>
                <a:srgbClr val="FFFFFF"/>
              </a:solidFill>
              <a:latin typeface="Geologica Thin" pitchFamily="2" charset="0"/>
              <a:ea typeface="Kollektif"/>
              <a:cs typeface="Kollektif"/>
              <a:sym typeface="Kollektif"/>
            </a:endParaRPr>
          </a:p>
        </p:txBody>
      </p:sp>
      <p:grpSp>
        <p:nvGrpSpPr>
          <p:cNvPr id="48" name="Group 3">
            <a:extLst>
              <a:ext uri="{FF2B5EF4-FFF2-40B4-BE49-F238E27FC236}">
                <a16:creationId xmlns:a16="http://schemas.microsoft.com/office/drawing/2014/main" id="{9197CF92-A9C3-DE35-FE17-1A2AC3E3A702}"/>
              </a:ext>
            </a:extLst>
          </p:cNvPr>
          <p:cNvGrpSpPr/>
          <p:nvPr/>
        </p:nvGrpSpPr>
        <p:grpSpPr>
          <a:xfrm>
            <a:off x="1028700" y="7479328"/>
            <a:ext cx="7780774" cy="2185214"/>
            <a:chOff x="0" y="0"/>
            <a:chExt cx="1379590" cy="729585"/>
          </a:xfrm>
        </p:grpSpPr>
        <p:sp>
          <p:nvSpPr>
            <p:cNvPr id="49" name="Freeform 4">
              <a:extLst>
                <a:ext uri="{FF2B5EF4-FFF2-40B4-BE49-F238E27FC236}">
                  <a16:creationId xmlns:a16="http://schemas.microsoft.com/office/drawing/2014/main" id="{B7D7F1BC-4D68-BA67-5CA3-F0989FE656B1}"/>
                </a:ext>
              </a:extLst>
            </p:cNvPr>
            <p:cNvSpPr/>
            <p:nvPr/>
          </p:nvSpPr>
          <p:spPr>
            <a:xfrm>
              <a:off x="0" y="0"/>
              <a:ext cx="1379590" cy="729585"/>
            </a:xfrm>
            <a:custGeom>
              <a:avLst/>
              <a:gdLst/>
              <a:ahLst/>
              <a:cxnLst/>
              <a:rect l="l" t="t" r="r" b="b"/>
              <a:pathLst>
                <a:path w="1379590" h="729585">
                  <a:moveTo>
                    <a:pt x="50745" y="0"/>
                  </a:moveTo>
                  <a:lnTo>
                    <a:pt x="1328845" y="0"/>
                  </a:lnTo>
                  <a:cubicBezTo>
                    <a:pt x="1356871" y="0"/>
                    <a:pt x="1379590" y="22719"/>
                    <a:pt x="1379590" y="50745"/>
                  </a:cubicBezTo>
                  <a:lnTo>
                    <a:pt x="1379590" y="678840"/>
                  </a:lnTo>
                  <a:cubicBezTo>
                    <a:pt x="1379590" y="706866"/>
                    <a:pt x="1356871" y="729585"/>
                    <a:pt x="1328845" y="729585"/>
                  </a:cubicBezTo>
                  <a:lnTo>
                    <a:pt x="50745" y="729585"/>
                  </a:lnTo>
                  <a:cubicBezTo>
                    <a:pt x="22719" y="729585"/>
                    <a:pt x="0" y="706866"/>
                    <a:pt x="0" y="678840"/>
                  </a:cubicBezTo>
                  <a:lnTo>
                    <a:pt x="0" y="50745"/>
                  </a:lnTo>
                  <a:cubicBezTo>
                    <a:pt x="0" y="22719"/>
                    <a:pt x="22719" y="0"/>
                    <a:pt x="50745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50" name="TextBox 5">
              <a:extLst>
                <a:ext uri="{FF2B5EF4-FFF2-40B4-BE49-F238E27FC236}">
                  <a16:creationId xmlns:a16="http://schemas.microsoft.com/office/drawing/2014/main" id="{4F3050F7-3CC5-8CCB-4805-D07F6045C22C}"/>
                </a:ext>
              </a:extLst>
            </p:cNvPr>
            <p:cNvSpPr txBox="1"/>
            <p:nvPr/>
          </p:nvSpPr>
          <p:spPr>
            <a:xfrm>
              <a:off x="0" y="-47625"/>
              <a:ext cx="1379590" cy="777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1" name="TextBox 15">
            <a:extLst>
              <a:ext uri="{FF2B5EF4-FFF2-40B4-BE49-F238E27FC236}">
                <a16:creationId xmlns:a16="http://schemas.microsoft.com/office/drawing/2014/main" id="{62B877D0-505F-9A1F-FCBB-5E1A3D47E600}"/>
              </a:ext>
            </a:extLst>
          </p:cNvPr>
          <p:cNvSpPr txBox="1"/>
          <p:nvPr/>
        </p:nvSpPr>
        <p:spPr>
          <a:xfrm>
            <a:off x="1471013" y="7683342"/>
            <a:ext cx="6896148" cy="498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ts val="4160"/>
              </a:lnSpc>
              <a:spcBef>
                <a:spcPct val="0"/>
              </a:spcBef>
            </a:pPr>
            <a:r>
              <a:rPr lang="ru-RU" sz="2800" b="1">
                <a:solidFill>
                  <a:srgbClr val="FFFFFF"/>
                </a:solidFill>
                <a:latin typeface="Geologica SemiBold" pitchFamily="2" charset="0"/>
                <a:ea typeface="Kollektif Bold"/>
                <a:cs typeface="Kollektif Bold"/>
                <a:sym typeface="Kollektif Bold"/>
              </a:rPr>
              <a:t>Реалізація </a:t>
            </a:r>
            <a:r>
              <a:rPr lang="en-US" sz="2800" b="1">
                <a:solidFill>
                  <a:srgbClr val="FFFFFF"/>
                </a:solidFill>
                <a:latin typeface="Geologica SemiBold" pitchFamily="2" charset="0"/>
                <a:ea typeface="Kollektif Bold"/>
                <a:cs typeface="Kollektif Bold"/>
                <a:sym typeface="Kollektif Bold"/>
              </a:rPr>
              <a:t>UI</a:t>
            </a:r>
            <a:endParaRPr lang="en-US" sz="2800" b="1" u="none" strike="noStrike">
              <a:solidFill>
                <a:srgbClr val="FFFFFF"/>
              </a:solidFill>
              <a:latin typeface="Geologica SemiBold" pitchFamily="2" charset="0"/>
              <a:ea typeface="Kollektif Bold"/>
              <a:cs typeface="Kollektif Bold"/>
              <a:sym typeface="Kollektif Bold"/>
            </a:endParaRPr>
          </a:p>
        </p:txBody>
      </p:sp>
      <p:sp>
        <p:nvSpPr>
          <p:cNvPr id="52" name="TextBox 16">
            <a:extLst>
              <a:ext uri="{FF2B5EF4-FFF2-40B4-BE49-F238E27FC236}">
                <a16:creationId xmlns:a16="http://schemas.microsoft.com/office/drawing/2014/main" id="{3D035608-9B13-DC32-466B-AF1FAEDF168F}"/>
              </a:ext>
            </a:extLst>
          </p:cNvPr>
          <p:cNvSpPr txBox="1"/>
          <p:nvPr/>
        </p:nvSpPr>
        <p:spPr>
          <a:xfrm>
            <a:off x="1471013" y="8204677"/>
            <a:ext cx="6896148" cy="109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>
              <a:lnSpc>
                <a:spcPts val="2940"/>
              </a:lnSpc>
              <a:spcBef>
                <a:spcPct val="0"/>
              </a:spcBef>
            </a:pPr>
            <a:r>
              <a:rPr lang="uk-UA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розробити інтерфейс для роботи користувачів із клієнтами, справами, підозрюваними, доказами, витратами та звітами.</a:t>
            </a:r>
            <a:endParaRPr lang="en-US" sz="2100" u="none" strike="noStrike">
              <a:solidFill>
                <a:srgbClr val="FFFFFF"/>
              </a:solidFill>
              <a:latin typeface="Geologica Thin" pitchFamily="2" charset="0"/>
              <a:ea typeface="Kollektif"/>
              <a:cs typeface="Kollektif"/>
              <a:sym typeface="Kollektif"/>
            </a:endParaRPr>
          </a:p>
        </p:txBody>
      </p:sp>
      <p:grpSp>
        <p:nvGrpSpPr>
          <p:cNvPr id="53" name="Group 3">
            <a:extLst>
              <a:ext uri="{FF2B5EF4-FFF2-40B4-BE49-F238E27FC236}">
                <a16:creationId xmlns:a16="http://schemas.microsoft.com/office/drawing/2014/main" id="{17B71321-9DDA-69E1-3521-B3F6F9AC26D2}"/>
              </a:ext>
            </a:extLst>
          </p:cNvPr>
          <p:cNvGrpSpPr/>
          <p:nvPr/>
        </p:nvGrpSpPr>
        <p:grpSpPr>
          <a:xfrm>
            <a:off x="9478526" y="7456719"/>
            <a:ext cx="7780774" cy="2185214"/>
            <a:chOff x="0" y="0"/>
            <a:chExt cx="1379590" cy="729585"/>
          </a:xfrm>
        </p:grpSpPr>
        <p:sp>
          <p:nvSpPr>
            <p:cNvPr id="54" name="Freeform 4">
              <a:extLst>
                <a:ext uri="{FF2B5EF4-FFF2-40B4-BE49-F238E27FC236}">
                  <a16:creationId xmlns:a16="http://schemas.microsoft.com/office/drawing/2014/main" id="{4EDD8ABE-FD1A-A4D8-8847-567B836C25FF}"/>
                </a:ext>
              </a:extLst>
            </p:cNvPr>
            <p:cNvSpPr/>
            <p:nvPr/>
          </p:nvSpPr>
          <p:spPr>
            <a:xfrm>
              <a:off x="0" y="0"/>
              <a:ext cx="1379590" cy="729585"/>
            </a:xfrm>
            <a:custGeom>
              <a:avLst/>
              <a:gdLst/>
              <a:ahLst/>
              <a:cxnLst/>
              <a:rect l="l" t="t" r="r" b="b"/>
              <a:pathLst>
                <a:path w="1379590" h="729585">
                  <a:moveTo>
                    <a:pt x="50745" y="0"/>
                  </a:moveTo>
                  <a:lnTo>
                    <a:pt x="1328845" y="0"/>
                  </a:lnTo>
                  <a:cubicBezTo>
                    <a:pt x="1356871" y="0"/>
                    <a:pt x="1379590" y="22719"/>
                    <a:pt x="1379590" y="50745"/>
                  </a:cubicBezTo>
                  <a:lnTo>
                    <a:pt x="1379590" y="678840"/>
                  </a:lnTo>
                  <a:cubicBezTo>
                    <a:pt x="1379590" y="706866"/>
                    <a:pt x="1356871" y="729585"/>
                    <a:pt x="1328845" y="729585"/>
                  </a:cubicBezTo>
                  <a:lnTo>
                    <a:pt x="50745" y="729585"/>
                  </a:lnTo>
                  <a:cubicBezTo>
                    <a:pt x="22719" y="729585"/>
                    <a:pt x="0" y="706866"/>
                    <a:pt x="0" y="678840"/>
                  </a:cubicBezTo>
                  <a:lnTo>
                    <a:pt x="0" y="50745"/>
                  </a:lnTo>
                  <a:cubicBezTo>
                    <a:pt x="0" y="22719"/>
                    <a:pt x="22719" y="0"/>
                    <a:pt x="50745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55" name="TextBox 5">
              <a:extLst>
                <a:ext uri="{FF2B5EF4-FFF2-40B4-BE49-F238E27FC236}">
                  <a16:creationId xmlns:a16="http://schemas.microsoft.com/office/drawing/2014/main" id="{F080370D-F4EE-8F77-3261-948D6CC4A24C}"/>
                </a:ext>
              </a:extLst>
            </p:cNvPr>
            <p:cNvSpPr txBox="1"/>
            <p:nvPr/>
          </p:nvSpPr>
          <p:spPr>
            <a:xfrm>
              <a:off x="0" y="-47625"/>
              <a:ext cx="1379590" cy="777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6" name="TextBox 15">
            <a:extLst>
              <a:ext uri="{FF2B5EF4-FFF2-40B4-BE49-F238E27FC236}">
                <a16:creationId xmlns:a16="http://schemas.microsoft.com/office/drawing/2014/main" id="{09D3340B-1EA9-CD52-2F42-F2E8AE88A2B1}"/>
              </a:ext>
            </a:extLst>
          </p:cNvPr>
          <p:cNvSpPr txBox="1"/>
          <p:nvPr/>
        </p:nvSpPr>
        <p:spPr>
          <a:xfrm>
            <a:off x="9920839" y="7660733"/>
            <a:ext cx="6896148" cy="498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ts val="4160"/>
              </a:lnSpc>
              <a:spcBef>
                <a:spcPct val="0"/>
              </a:spcBef>
            </a:pPr>
            <a:r>
              <a:rPr lang="uk-UA" sz="2800" b="1" u="none" strike="noStrike">
                <a:solidFill>
                  <a:srgbClr val="FFFFFF"/>
                </a:solidFill>
                <a:latin typeface="Geologica SemiBold" pitchFamily="2" charset="0"/>
                <a:ea typeface="Kollektif Bold"/>
                <a:cs typeface="Kollektif Bold"/>
                <a:sym typeface="Kollektif Bold"/>
              </a:rPr>
              <a:t>Забеспечення безпеки доступу</a:t>
            </a:r>
            <a:endParaRPr lang="en-US" sz="2800" b="1" u="none" strike="noStrike">
              <a:solidFill>
                <a:srgbClr val="FFFFFF"/>
              </a:solidFill>
              <a:latin typeface="Geologica SemiBold" pitchFamily="2" charset="0"/>
              <a:ea typeface="Kollektif Bold"/>
              <a:cs typeface="Kollektif Bold"/>
              <a:sym typeface="Kollektif Bold"/>
            </a:endParaRPr>
          </a:p>
        </p:txBody>
      </p:sp>
      <p:sp>
        <p:nvSpPr>
          <p:cNvPr id="57" name="TextBox 16">
            <a:extLst>
              <a:ext uri="{FF2B5EF4-FFF2-40B4-BE49-F238E27FC236}">
                <a16:creationId xmlns:a16="http://schemas.microsoft.com/office/drawing/2014/main" id="{2B7CF515-0611-AB95-19FB-62D1AC3E8DBB}"/>
              </a:ext>
            </a:extLst>
          </p:cNvPr>
          <p:cNvSpPr txBox="1"/>
          <p:nvPr/>
        </p:nvSpPr>
        <p:spPr>
          <a:xfrm>
            <a:off x="9920839" y="8182068"/>
            <a:ext cx="6896148" cy="1093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>
              <a:lnSpc>
                <a:spcPts val="2940"/>
              </a:lnSpc>
              <a:spcBef>
                <a:spcPct val="0"/>
              </a:spcBef>
            </a:pPr>
            <a:r>
              <a:rPr lang="uk-UA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реалізувати захист даних, розмежування </a:t>
            </a:r>
          </a:p>
          <a:p>
            <a:pPr marL="0" lvl="1" indent="0">
              <a:lnSpc>
                <a:spcPts val="2940"/>
              </a:lnSpc>
              <a:spcBef>
                <a:spcPct val="0"/>
              </a:spcBef>
            </a:pPr>
            <a:r>
              <a:rPr lang="uk-UA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прав доступу та безпечну роботу користувачів у системі.</a:t>
            </a:r>
            <a:endParaRPr lang="en-US" sz="2100" u="none" strike="noStrike">
              <a:solidFill>
                <a:srgbClr val="FFFFFF"/>
              </a:solidFill>
              <a:latin typeface="Geologica Thin" pitchFamily="2" charset="0"/>
              <a:ea typeface="Kollektif"/>
              <a:cs typeface="Kollektif"/>
              <a:sym typeface="Kollektif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 rot="-2058792">
            <a:off x="-708672" y="-11518803"/>
            <a:ext cx="21340665" cy="19793467"/>
          </a:xfrm>
          <a:custGeom>
            <a:avLst/>
            <a:gdLst/>
            <a:ahLst/>
            <a:cxnLst/>
            <a:rect l="l" t="t" r="r" b="b"/>
            <a:pathLst>
              <a:path w="21340665" h="19793467">
                <a:moveTo>
                  <a:pt x="0" y="0"/>
                </a:moveTo>
                <a:lnTo>
                  <a:pt x="21340665" y="0"/>
                </a:lnTo>
                <a:lnTo>
                  <a:pt x="21340665" y="19793467"/>
                </a:lnTo>
                <a:lnTo>
                  <a:pt x="0" y="19793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ru-UA"/>
          </a:p>
        </p:txBody>
      </p:sp>
      <p:grpSp>
        <p:nvGrpSpPr>
          <p:cNvPr id="3" name="Group 3"/>
          <p:cNvGrpSpPr/>
          <p:nvPr/>
        </p:nvGrpSpPr>
        <p:grpSpPr>
          <a:xfrm>
            <a:off x="1028700" y="2219007"/>
            <a:ext cx="7775506" cy="7635394"/>
            <a:chOff x="0" y="0"/>
            <a:chExt cx="1378656" cy="14591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78656" cy="1459170"/>
            </a:xfrm>
            <a:custGeom>
              <a:avLst/>
              <a:gdLst/>
              <a:ahLst/>
              <a:cxnLst/>
              <a:rect l="l" t="t" r="r" b="b"/>
              <a:pathLst>
                <a:path w="1378656" h="1459170">
                  <a:moveTo>
                    <a:pt x="50780" y="0"/>
                  </a:moveTo>
                  <a:lnTo>
                    <a:pt x="1327876" y="0"/>
                  </a:lnTo>
                  <a:cubicBezTo>
                    <a:pt x="1355921" y="0"/>
                    <a:pt x="1378656" y="22735"/>
                    <a:pt x="1378656" y="50780"/>
                  </a:cubicBezTo>
                  <a:lnTo>
                    <a:pt x="1378656" y="1408391"/>
                  </a:lnTo>
                  <a:cubicBezTo>
                    <a:pt x="1378656" y="1436436"/>
                    <a:pt x="1355921" y="1459170"/>
                    <a:pt x="1327876" y="1459170"/>
                  </a:cubicBezTo>
                  <a:lnTo>
                    <a:pt x="50780" y="1459170"/>
                  </a:lnTo>
                  <a:cubicBezTo>
                    <a:pt x="22735" y="1459170"/>
                    <a:pt x="0" y="1436436"/>
                    <a:pt x="0" y="1408391"/>
                  </a:cubicBezTo>
                  <a:lnTo>
                    <a:pt x="0" y="50780"/>
                  </a:lnTo>
                  <a:cubicBezTo>
                    <a:pt x="0" y="22735"/>
                    <a:pt x="22735" y="0"/>
                    <a:pt x="50780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378656" cy="15067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06567" y="2628900"/>
            <a:ext cx="6819771" cy="875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uk-UA" sz="5400" b="1" u="none" strike="noStrike">
                <a:solidFill>
                  <a:srgbClr val="FFFFFF"/>
                </a:solidFill>
                <a:latin typeface="Geologica" pitchFamily="2" charset="0"/>
                <a:ea typeface="Kollektif"/>
                <a:cs typeface="Kollektif"/>
                <a:sym typeface="Kollektif"/>
              </a:rPr>
              <a:t>Адміністратор</a:t>
            </a:r>
            <a:endParaRPr lang="en-US" sz="5400" b="1" u="none" strike="noStrike">
              <a:solidFill>
                <a:srgbClr val="FFFFFF"/>
              </a:solidFill>
              <a:latin typeface="Geologica" pitchFamily="2" charset="0"/>
              <a:ea typeface="Kollektif"/>
              <a:cs typeface="Kollektif"/>
              <a:sym typeface="Kollektif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06567" y="3849052"/>
            <a:ext cx="6819771" cy="5574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>
              <a:lnSpc>
                <a:spcPts val="2940"/>
              </a:lnSpc>
              <a:spcBef>
                <a:spcPct val="0"/>
              </a:spcBef>
            </a:pPr>
            <a:r>
              <a:rPr lang="ru-RU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Адміністратор — це користувач системи, який відповідає за організацію роботи детективного агентства, контроль персоналу та загальне адміністрування детективних справ.</a:t>
            </a:r>
          </a:p>
          <a:p>
            <a:pPr marL="0" lvl="1" indent="0">
              <a:lnSpc>
                <a:spcPts val="2940"/>
              </a:lnSpc>
              <a:spcBef>
                <a:spcPct val="0"/>
              </a:spcBef>
            </a:pPr>
            <a:endParaRPr lang="ru-RU" sz="2100" u="none" strike="noStrike">
              <a:solidFill>
                <a:srgbClr val="FFFFFF"/>
              </a:solidFill>
              <a:latin typeface="Geologica Thin" pitchFamily="2" charset="0"/>
              <a:ea typeface="Kollektif"/>
              <a:cs typeface="Kollektif"/>
              <a:sym typeface="Kollektif"/>
            </a:endParaRPr>
          </a:p>
          <a:p>
            <a:pPr marL="0" lvl="1" indent="0">
              <a:lnSpc>
                <a:spcPts val="2940"/>
              </a:lnSpc>
              <a:spcBef>
                <a:spcPct val="0"/>
              </a:spcBef>
            </a:pPr>
            <a:r>
              <a:rPr lang="ru-RU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Основні функції адміністратора:</a:t>
            </a:r>
          </a:p>
          <a:p>
            <a:pPr marL="0" lvl="1" indent="0">
              <a:lnSpc>
                <a:spcPct val="150000"/>
              </a:lnSpc>
              <a:spcBef>
                <a:spcPct val="0"/>
              </a:spcBef>
            </a:pPr>
            <a:r>
              <a:rPr lang="ru-RU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• підбір і реєстрація персоналу в системі;</a:t>
            </a:r>
          </a:p>
          <a:p>
            <a:pPr marL="0" lvl="1" indent="0">
              <a:lnSpc>
                <a:spcPct val="150000"/>
              </a:lnSpc>
              <a:spcBef>
                <a:spcPct val="0"/>
              </a:spcBef>
            </a:pPr>
            <a:r>
              <a:rPr lang="ru-RU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• призначення детективів на справи;</a:t>
            </a:r>
          </a:p>
          <a:p>
            <a:pPr marL="0" lvl="1" indent="0">
              <a:lnSpc>
                <a:spcPct val="150000"/>
              </a:lnSpc>
              <a:spcBef>
                <a:spcPct val="0"/>
              </a:spcBef>
            </a:pPr>
            <a:r>
              <a:rPr lang="ru-RU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• прив’язка клієнтів до відповідних справ;</a:t>
            </a:r>
          </a:p>
          <a:p>
            <a:pPr marL="0" lvl="1" indent="0">
              <a:lnSpc>
                <a:spcPct val="150000"/>
              </a:lnSpc>
              <a:spcBef>
                <a:spcPct val="0"/>
              </a:spcBef>
            </a:pPr>
            <a:r>
              <a:rPr lang="ru-RU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• контроль стану розслідувань і рівня розкриття справ;</a:t>
            </a:r>
          </a:p>
          <a:p>
            <a:pPr marL="0" lvl="1" indent="0">
              <a:lnSpc>
                <a:spcPct val="150000"/>
              </a:lnSpc>
              <a:spcBef>
                <a:spcPct val="0"/>
              </a:spcBef>
            </a:pPr>
            <a:r>
              <a:rPr lang="ru-RU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• адміністрування процесу відкриття, супроводу та закриття справ;</a:t>
            </a:r>
          </a:p>
        </p:txBody>
      </p:sp>
      <p:sp>
        <p:nvSpPr>
          <p:cNvPr id="16" name="TextBox 37">
            <a:extLst>
              <a:ext uri="{FF2B5EF4-FFF2-40B4-BE49-F238E27FC236}">
                <a16:creationId xmlns:a16="http://schemas.microsoft.com/office/drawing/2014/main" id="{F3FC63F9-66F6-4FCC-128C-D10BBCB74CD7}"/>
              </a:ext>
            </a:extLst>
          </p:cNvPr>
          <p:cNvSpPr txBox="1"/>
          <p:nvPr/>
        </p:nvSpPr>
        <p:spPr>
          <a:xfrm>
            <a:off x="4601886" y="1060439"/>
            <a:ext cx="9084227" cy="728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600"/>
              </a:lnSpc>
            </a:pPr>
            <a:r>
              <a:rPr lang="uk-UA" sz="4800" b="1" u="none" strike="noStrike">
                <a:solidFill>
                  <a:srgbClr val="FFFFFF"/>
                </a:solidFill>
                <a:latin typeface="Geologica" pitchFamily="2" charset="0"/>
                <a:ea typeface="Kollektif Bold"/>
                <a:cs typeface="Kollektif Bold"/>
                <a:sym typeface="Kollektif Bold"/>
              </a:rPr>
              <a:t>ЗАДАЧІ КОРИСТУВАЧІВ ІС</a:t>
            </a:r>
            <a:endParaRPr lang="en-US" sz="4800" b="1" u="none" strike="noStrike">
              <a:solidFill>
                <a:srgbClr val="FFFFFF"/>
              </a:solidFill>
              <a:latin typeface="Geologica" pitchFamily="2" charset="0"/>
              <a:ea typeface="Kollektif Bold"/>
              <a:cs typeface="Kollektif Bold"/>
              <a:sym typeface="Kollektif Bold"/>
            </a:endParaRPr>
          </a:p>
        </p:txBody>
      </p:sp>
      <p:grpSp>
        <p:nvGrpSpPr>
          <p:cNvPr id="18" name="Group 3">
            <a:extLst>
              <a:ext uri="{FF2B5EF4-FFF2-40B4-BE49-F238E27FC236}">
                <a16:creationId xmlns:a16="http://schemas.microsoft.com/office/drawing/2014/main" id="{419C3B1D-C95A-A5BF-9DB9-09B06D5AC027}"/>
              </a:ext>
            </a:extLst>
          </p:cNvPr>
          <p:cNvGrpSpPr/>
          <p:nvPr/>
        </p:nvGrpSpPr>
        <p:grpSpPr>
          <a:xfrm>
            <a:off x="9559305" y="2219007"/>
            <a:ext cx="7775506" cy="7635394"/>
            <a:chOff x="0" y="0"/>
            <a:chExt cx="1378656" cy="1459170"/>
          </a:xfrm>
        </p:grpSpPr>
        <p:sp>
          <p:nvSpPr>
            <p:cNvPr id="19" name="Freeform 4">
              <a:extLst>
                <a:ext uri="{FF2B5EF4-FFF2-40B4-BE49-F238E27FC236}">
                  <a16:creationId xmlns:a16="http://schemas.microsoft.com/office/drawing/2014/main" id="{C227E8D8-FFD1-1BB5-03B0-7C1E3A352AE4}"/>
                </a:ext>
              </a:extLst>
            </p:cNvPr>
            <p:cNvSpPr/>
            <p:nvPr/>
          </p:nvSpPr>
          <p:spPr>
            <a:xfrm>
              <a:off x="0" y="0"/>
              <a:ext cx="1378656" cy="1459170"/>
            </a:xfrm>
            <a:custGeom>
              <a:avLst/>
              <a:gdLst/>
              <a:ahLst/>
              <a:cxnLst/>
              <a:rect l="l" t="t" r="r" b="b"/>
              <a:pathLst>
                <a:path w="1378656" h="1459170">
                  <a:moveTo>
                    <a:pt x="50780" y="0"/>
                  </a:moveTo>
                  <a:lnTo>
                    <a:pt x="1327876" y="0"/>
                  </a:lnTo>
                  <a:cubicBezTo>
                    <a:pt x="1355921" y="0"/>
                    <a:pt x="1378656" y="22735"/>
                    <a:pt x="1378656" y="50780"/>
                  </a:cubicBezTo>
                  <a:lnTo>
                    <a:pt x="1378656" y="1408391"/>
                  </a:lnTo>
                  <a:cubicBezTo>
                    <a:pt x="1378656" y="1436436"/>
                    <a:pt x="1355921" y="1459170"/>
                    <a:pt x="1327876" y="1459170"/>
                  </a:cubicBezTo>
                  <a:lnTo>
                    <a:pt x="50780" y="1459170"/>
                  </a:lnTo>
                  <a:cubicBezTo>
                    <a:pt x="22735" y="1459170"/>
                    <a:pt x="0" y="1436436"/>
                    <a:pt x="0" y="1408391"/>
                  </a:cubicBezTo>
                  <a:lnTo>
                    <a:pt x="0" y="50780"/>
                  </a:lnTo>
                  <a:cubicBezTo>
                    <a:pt x="0" y="22735"/>
                    <a:pt x="22735" y="0"/>
                    <a:pt x="50780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0" name="TextBox 5">
              <a:extLst>
                <a:ext uri="{FF2B5EF4-FFF2-40B4-BE49-F238E27FC236}">
                  <a16:creationId xmlns:a16="http://schemas.microsoft.com/office/drawing/2014/main" id="{839D770F-1C5A-0BA3-5413-3E97B73C7D4E}"/>
                </a:ext>
              </a:extLst>
            </p:cNvPr>
            <p:cNvSpPr txBox="1"/>
            <p:nvPr/>
          </p:nvSpPr>
          <p:spPr>
            <a:xfrm>
              <a:off x="0" y="-47625"/>
              <a:ext cx="1378656" cy="15067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1" name="TextBox 9">
            <a:extLst>
              <a:ext uri="{FF2B5EF4-FFF2-40B4-BE49-F238E27FC236}">
                <a16:creationId xmlns:a16="http://schemas.microsoft.com/office/drawing/2014/main" id="{84E65883-8CF9-47D9-FE7B-D4734E75A6A2}"/>
              </a:ext>
            </a:extLst>
          </p:cNvPr>
          <p:cNvSpPr txBox="1"/>
          <p:nvPr/>
        </p:nvSpPr>
        <p:spPr>
          <a:xfrm>
            <a:off x="10037172" y="2628900"/>
            <a:ext cx="6819771" cy="875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uk-UA" sz="5400" b="1" u="none" strike="noStrike">
                <a:solidFill>
                  <a:srgbClr val="FFFFFF"/>
                </a:solidFill>
                <a:latin typeface="Geologica" pitchFamily="2" charset="0"/>
                <a:ea typeface="Kollektif"/>
                <a:cs typeface="Kollektif"/>
                <a:sym typeface="Kollektif"/>
              </a:rPr>
              <a:t>Детектив</a:t>
            </a:r>
            <a:endParaRPr lang="en-US" sz="5400" b="1" u="none" strike="noStrike">
              <a:solidFill>
                <a:srgbClr val="FFFFFF"/>
              </a:solidFill>
              <a:latin typeface="Geologica" pitchFamily="2" charset="0"/>
              <a:ea typeface="Kollektif"/>
              <a:cs typeface="Kollektif"/>
              <a:sym typeface="Kollektif"/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5EC38E8D-BA59-453C-25FB-0BC8474C5A52}"/>
              </a:ext>
            </a:extLst>
          </p:cNvPr>
          <p:cNvSpPr txBox="1"/>
          <p:nvPr/>
        </p:nvSpPr>
        <p:spPr>
          <a:xfrm>
            <a:off x="10037172" y="3849052"/>
            <a:ext cx="6819771" cy="5574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>
              <a:lnSpc>
                <a:spcPts val="2940"/>
              </a:lnSpc>
              <a:spcBef>
                <a:spcPct val="0"/>
              </a:spcBef>
            </a:pPr>
            <a:r>
              <a:rPr lang="ru-RU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Детектив — це користувач системи, який безпосередньо працює з призначеними йому справами, здійснює супровід розслідування та фіксує результати своєї роботи в системі.</a:t>
            </a:r>
          </a:p>
          <a:p>
            <a:pPr marL="0" lvl="1" indent="0">
              <a:lnSpc>
                <a:spcPts val="2940"/>
              </a:lnSpc>
              <a:spcBef>
                <a:spcPct val="0"/>
              </a:spcBef>
            </a:pPr>
            <a:endParaRPr lang="ru-RU" sz="2100" u="none" strike="noStrike">
              <a:solidFill>
                <a:srgbClr val="FFFFFF"/>
              </a:solidFill>
              <a:latin typeface="Geologica Thin" pitchFamily="2" charset="0"/>
              <a:ea typeface="Kollektif"/>
              <a:cs typeface="Kollektif"/>
              <a:sym typeface="Kollektif"/>
            </a:endParaRPr>
          </a:p>
          <a:p>
            <a:pPr marL="0" lvl="1" indent="0">
              <a:lnSpc>
                <a:spcPts val="2940"/>
              </a:lnSpc>
              <a:spcBef>
                <a:spcPct val="0"/>
              </a:spcBef>
            </a:pPr>
            <a:r>
              <a:rPr lang="ru-RU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Основні функції детектива:</a:t>
            </a:r>
          </a:p>
          <a:p>
            <a:pPr marL="0" lvl="1" indent="0">
              <a:lnSpc>
                <a:spcPct val="150000"/>
              </a:lnSpc>
              <a:spcBef>
                <a:spcPct val="0"/>
              </a:spcBef>
            </a:pPr>
            <a:r>
              <a:rPr lang="ru-RU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• ведення призначених детективних справ;</a:t>
            </a:r>
          </a:p>
          <a:p>
            <a:pPr marL="0" lvl="1" indent="0">
              <a:lnSpc>
                <a:spcPct val="150000"/>
              </a:lnSpc>
              <a:spcBef>
                <a:spcPct val="0"/>
              </a:spcBef>
            </a:pPr>
            <a:r>
              <a:rPr lang="ru-RU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• робота з інформацією про підозрюваних;</a:t>
            </a:r>
          </a:p>
          <a:p>
            <a:pPr marL="0" lvl="1" indent="0">
              <a:lnSpc>
                <a:spcPct val="150000"/>
              </a:lnSpc>
              <a:spcBef>
                <a:spcPct val="0"/>
              </a:spcBef>
            </a:pPr>
            <a:r>
              <a:rPr lang="ru-RU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• додавання та оновлення відомостей про докази;</a:t>
            </a:r>
          </a:p>
          <a:p>
            <a:pPr marL="0" lvl="1" indent="0">
              <a:lnSpc>
                <a:spcPct val="150000"/>
              </a:lnSpc>
              <a:spcBef>
                <a:spcPct val="0"/>
              </a:spcBef>
            </a:pPr>
            <a:r>
              <a:rPr lang="ru-RU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• внесення й редагування витрат, пов’язаних із розслідуванням;</a:t>
            </a:r>
          </a:p>
          <a:p>
            <a:pPr marL="0" lvl="1" indent="0">
              <a:lnSpc>
                <a:spcPct val="150000"/>
              </a:lnSpc>
              <a:spcBef>
                <a:spcPct val="0"/>
              </a:spcBef>
            </a:pPr>
            <a:r>
              <a:rPr lang="ru-RU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• формування та ведення звітності за справами;</a:t>
            </a:r>
          </a:p>
          <a:p>
            <a:pPr marL="0" lvl="1" indent="0">
              <a:lnSpc>
                <a:spcPct val="150000"/>
              </a:lnSpc>
              <a:spcBef>
                <a:spcPct val="0"/>
              </a:spcBef>
            </a:pPr>
            <a:r>
              <a:rPr lang="ru-RU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• фіксація змін і результатів у межах розслідування.</a:t>
            </a:r>
            <a:endParaRPr lang="en-US" sz="2100" u="none" strike="noStrike">
              <a:solidFill>
                <a:srgbClr val="FFFFFF"/>
              </a:solidFill>
              <a:latin typeface="Geologica Thin" pitchFamily="2" charset="0"/>
              <a:ea typeface="Kollektif"/>
              <a:cs typeface="Kollektif"/>
              <a:sym typeface="Kollektif"/>
            </a:endParaRPr>
          </a:p>
        </p:txBody>
      </p:sp>
      <p:sp>
        <p:nvSpPr>
          <p:cNvPr id="23" name="TextBox 5">
            <a:extLst>
              <a:ext uri="{FF2B5EF4-FFF2-40B4-BE49-F238E27FC236}">
                <a16:creationId xmlns:a16="http://schemas.microsoft.com/office/drawing/2014/main" id="{BC3A28F4-D302-721C-2A55-E27B0C3D1DB5}"/>
              </a:ext>
            </a:extLst>
          </p:cNvPr>
          <p:cNvSpPr txBox="1"/>
          <p:nvPr/>
        </p:nvSpPr>
        <p:spPr>
          <a:xfrm>
            <a:off x="1028700" y="459921"/>
            <a:ext cx="1790700" cy="18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uk-UA" sz="1400" b="1" spc="-58">
                <a:solidFill>
                  <a:srgbClr val="FFFFFF"/>
                </a:solidFill>
                <a:latin typeface="Geologica" pitchFamily="2" charset="0"/>
                <a:ea typeface="Kollektif Bold"/>
                <a:cs typeface="Kollektif Bold"/>
                <a:sym typeface="Kollektif Bold"/>
              </a:rPr>
              <a:t>ОНУ ім. Мечникова</a:t>
            </a:r>
            <a:endParaRPr lang="en-US" sz="1400" b="1" spc="-58">
              <a:solidFill>
                <a:srgbClr val="FFFFFF"/>
              </a:solidFill>
              <a:latin typeface="Geologica" pitchFamily="2" charset="0"/>
              <a:ea typeface="Kollektif Bold"/>
              <a:cs typeface="Kollektif Bold"/>
              <a:sym typeface="Kollektif Bold"/>
            </a:endParaRPr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4ADE58B7-97F0-F14B-FB58-9A13163284F0}"/>
              </a:ext>
            </a:extLst>
          </p:cNvPr>
          <p:cNvSpPr txBox="1"/>
          <p:nvPr/>
        </p:nvSpPr>
        <p:spPr>
          <a:xfrm>
            <a:off x="16535401" y="432599"/>
            <a:ext cx="723900" cy="18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Geologica" pitchFamily="2" charset="0"/>
                <a:ea typeface="Kollektif Bold"/>
                <a:cs typeface="Kollektif Bold"/>
                <a:sym typeface="Kollektif Bold"/>
              </a:rPr>
              <a:t>2026</a:t>
            </a:r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id="{77940EFB-5A5A-A657-E1BA-DC225E2ACF30}"/>
              </a:ext>
            </a:extLst>
          </p:cNvPr>
          <p:cNvSpPr txBox="1"/>
          <p:nvPr/>
        </p:nvSpPr>
        <p:spPr>
          <a:xfrm>
            <a:off x="8248650" y="470767"/>
            <a:ext cx="1790700" cy="18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Geologica" pitchFamily="2" charset="0"/>
                <a:ea typeface="Kollektif Bold"/>
                <a:cs typeface="Kollektif Bold"/>
                <a:sym typeface="Kollektif Bold"/>
              </a:rPr>
              <a:t>CASEFLOW</a:t>
            </a: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028700" y="4860970"/>
            <a:ext cx="4552015" cy="4790482"/>
            <a:chOff x="0" y="0"/>
            <a:chExt cx="807107" cy="6518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07107" cy="651811"/>
            </a:xfrm>
            <a:custGeom>
              <a:avLst/>
              <a:gdLst/>
              <a:ahLst/>
              <a:cxnLst/>
              <a:rect l="l" t="t" r="r" b="b"/>
              <a:pathLst>
                <a:path w="807107" h="651811">
                  <a:moveTo>
                    <a:pt x="86739" y="0"/>
                  </a:moveTo>
                  <a:lnTo>
                    <a:pt x="720367" y="0"/>
                  </a:lnTo>
                  <a:cubicBezTo>
                    <a:pt x="768272" y="0"/>
                    <a:pt x="807107" y="38834"/>
                    <a:pt x="807107" y="86739"/>
                  </a:cubicBezTo>
                  <a:lnTo>
                    <a:pt x="807107" y="565072"/>
                  </a:lnTo>
                  <a:cubicBezTo>
                    <a:pt x="807107" y="612977"/>
                    <a:pt x="768272" y="651811"/>
                    <a:pt x="720367" y="651811"/>
                  </a:cubicBezTo>
                  <a:lnTo>
                    <a:pt x="86739" y="651811"/>
                  </a:lnTo>
                  <a:cubicBezTo>
                    <a:pt x="38834" y="651811"/>
                    <a:pt x="0" y="612977"/>
                    <a:pt x="0" y="565072"/>
                  </a:cubicBezTo>
                  <a:lnTo>
                    <a:pt x="0" y="86739"/>
                  </a:lnTo>
                  <a:cubicBezTo>
                    <a:pt x="0" y="38834"/>
                    <a:pt x="38834" y="0"/>
                    <a:pt x="86739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07107" cy="699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2957430"/>
            <a:ext cx="9403682" cy="1465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>
              <a:lnSpc>
                <a:spcPts val="2940"/>
              </a:lnSpc>
              <a:spcBef>
                <a:spcPct val="0"/>
              </a:spcBef>
            </a:pPr>
            <a:r>
              <a:rPr lang="uk-UA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Для реалізації інформаційної системи обрано триланкову архітектуру клієнт-сервер та шаблон проєктування </a:t>
            </a:r>
            <a:r>
              <a:rPr lang="en-US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MVC, </a:t>
            </a:r>
            <a:r>
              <a:rPr lang="uk-UA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що забезпечують структурованість застосунку, зручність супроводу та чіткий поділ функціональності.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24000" y="5189129"/>
            <a:ext cx="3581400" cy="1209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180"/>
              </a:lnSpc>
              <a:spcBef>
                <a:spcPct val="0"/>
              </a:spcBef>
            </a:pPr>
            <a:r>
              <a:rPr lang="ru-RU" sz="2400" b="1">
                <a:solidFill>
                  <a:srgbClr val="FFFFFF"/>
                </a:solidFill>
                <a:latin typeface="Geologica SemiBold" pitchFamily="2" charset="0"/>
                <a:ea typeface="Kollektif Bold"/>
                <a:cs typeface="Kollektif Bold"/>
                <a:sym typeface="Kollektif Bold"/>
              </a:rPr>
              <a:t>Триланкова архітектура клієнт-сервер: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91587" y="6574481"/>
            <a:ext cx="3813813" cy="27545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1" indent="-342900">
              <a:lnSpc>
                <a:spcPts val="31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поділ системи на інтерфейс, бізнес-логіку та базу даних;</a:t>
            </a:r>
          </a:p>
          <a:p>
            <a:pPr marL="342900" lvl="1" indent="-342900">
              <a:lnSpc>
                <a:spcPts val="31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зручність супроводу та масштабування;</a:t>
            </a:r>
          </a:p>
          <a:p>
            <a:pPr marL="342900" lvl="1" indent="-342900">
              <a:lnSpc>
                <a:spcPts val="31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підвищення безпеки обробки даних.</a:t>
            </a:r>
            <a:endParaRPr lang="en-US" sz="2100" u="none" strike="noStrike">
              <a:solidFill>
                <a:srgbClr val="FFFFFF"/>
              </a:solidFill>
              <a:latin typeface="Geologica Thin" pitchFamily="2" charset="0"/>
              <a:ea typeface="Kollektif"/>
              <a:cs typeface="Kollektif"/>
              <a:sym typeface="Kollektif"/>
            </a:endParaRP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0945B517-7638-2206-39C5-E03D795294CA}"/>
              </a:ext>
            </a:extLst>
          </p:cNvPr>
          <p:cNvSpPr txBox="1"/>
          <p:nvPr/>
        </p:nvSpPr>
        <p:spPr>
          <a:xfrm>
            <a:off x="1028700" y="1251996"/>
            <a:ext cx="8591470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/>
            <a:r>
              <a:rPr lang="uk-UA" sz="4800" b="1" u="none" strike="noStrike">
                <a:solidFill>
                  <a:srgbClr val="FFFFFF"/>
                </a:solidFill>
                <a:latin typeface="Geologica" pitchFamily="2" charset="0"/>
                <a:ea typeface="Kollektif"/>
                <a:cs typeface="Kollektif"/>
                <a:sym typeface="Kollektif"/>
              </a:rPr>
              <a:t>АРХІТЕКТУРА ІС ТА ШАБЛОН ПРОЕКТУВАННЯ</a:t>
            </a:r>
            <a:endParaRPr lang="en-US" sz="5600" b="1" u="none" strike="noStrike">
              <a:solidFill>
                <a:srgbClr val="FFFFFF"/>
              </a:solidFill>
              <a:latin typeface="Geologica" pitchFamily="2" charset="0"/>
              <a:ea typeface="Kollektif"/>
              <a:cs typeface="Kollektif"/>
              <a:sym typeface="Kollektif"/>
            </a:endParaRPr>
          </a:p>
        </p:txBody>
      </p:sp>
      <p:sp>
        <p:nvSpPr>
          <p:cNvPr id="20" name="TextBox 5">
            <a:extLst>
              <a:ext uri="{FF2B5EF4-FFF2-40B4-BE49-F238E27FC236}">
                <a16:creationId xmlns:a16="http://schemas.microsoft.com/office/drawing/2014/main" id="{A3EED4E3-6A9B-8D03-B821-073D7A1D86F9}"/>
              </a:ext>
            </a:extLst>
          </p:cNvPr>
          <p:cNvSpPr txBox="1"/>
          <p:nvPr/>
        </p:nvSpPr>
        <p:spPr>
          <a:xfrm>
            <a:off x="1028700" y="459921"/>
            <a:ext cx="1790700" cy="18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uk-UA" sz="1400" b="1" spc="-58">
                <a:solidFill>
                  <a:srgbClr val="FFFFFF"/>
                </a:solidFill>
                <a:latin typeface="Geologica" pitchFamily="2" charset="0"/>
                <a:ea typeface="Kollektif Bold"/>
                <a:cs typeface="Kollektif Bold"/>
                <a:sym typeface="Kollektif Bold"/>
              </a:rPr>
              <a:t>ОНУ ім. Мечникова</a:t>
            </a:r>
            <a:endParaRPr lang="en-US" sz="1400" b="1" spc="-58">
              <a:solidFill>
                <a:srgbClr val="FFFFFF"/>
              </a:solidFill>
              <a:latin typeface="Geologica" pitchFamily="2" charset="0"/>
              <a:ea typeface="Kollektif Bold"/>
              <a:cs typeface="Kollektif Bold"/>
              <a:sym typeface="Kollektif Bold"/>
            </a:endParaRPr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7D4A4023-E779-9008-608A-9A4FC9723A1D}"/>
              </a:ext>
            </a:extLst>
          </p:cNvPr>
          <p:cNvSpPr txBox="1"/>
          <p:nvPr/>
        </p:nvSpPr>
        <p:spPr>
          <a:xfrm>
            <a:off x="16535401" y="432599"/>
            <a:ext cx="723900" cy="18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Geologica" pitchFamily="2" charset="0"/>
                <a:ea typeface="Kollektif Bold"/>
                <a:cs typeface="Kollektif Bold"/>
                <a:sym typeface="Kollektif Bold"/>
              </a:rPr>
              <a:t>2026</a:t>
            </a:r>
          </a:p>
        </p:txBody>
      </p:sp>
      <p:sp>
        <p:nvSpPr>
          <p:cNvPr id="22" name="TextBox 5">
            <a:extLst>
              <a:ext uri="{FF2B5EF4-FFF2-40B4-BE49-F238E27FC236}">
                <a16:creationId xmlns:a16="http://schemas.microsoft.com/office/drawing/2014/main" id="{CE4AACAE-B9F8-E653-E1AD-AD05C3BA89AA}"/>
              </a:ext>
            </a:extLst>
          </p:cNvPr>
          <p:cNvSpPr txBox="1"/>
          <p:nvPr/>
        </p:nvSpPr>
        <p:spPr>
          <a:xfrm>
            <a:off x="8248650" y="470767"/>
            <a:ext cx="1790700" cy="18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Geologica" pitchFamily="2" charset="0"/>
                <a:ea typeface="Kollektif Bold"/>
                <a:cs typeface="Kollektif Bold"/>
                <a:sym typeface="Kollektif Bold"/>
              </a:rPr>
              <a:t>CASEFLOW</a:t>
            </a:r>
          </a:p>
        </p:txBody>
      </p:sp>
      <p:grpSp>
        <p:nvGrpSpPr>
          <p:cNvPr id="28" name="Group 5">
            <a:extLst>
              <a:ext uri="{FF2B5EF4-FFF2-40B4-BE49-F238E27FC236}">
                <a16:creationId xmlns:a16="http://schemas.microsoft.com/office/drawing/2014/main" id="{28A4E856-9F44-9FC4-C5BA-769E456D39E0}"/>
              </a:ext>
            </a:extLst>
          </p:cNvPr>
          <p:cNvGrpSpPr/>
          <p:nvPr/>
        </p:nvGrpSpPr>
        <p:grpSpPr>
          <a:xfrm>
            <a:off x="6099155" y="4860970"/>
            <a:ext cx="4552015" cy="4790482"/>
            <a:chOff x="0" y="0"/>
            <a:chExt cx="807107" cy="651811"/>
          </a:xfrm>
        </p:grpSpPr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F86E4EA9-6B1E-47B8-6862-BD02DA12ADFA}"/>
                </a:ext>
              </a:extLst>
            </p:cNvPr>
            <p:cNvSpPr/>
            <p:nvPr/>
          </p:nvSpPr>
          <p:spPr>
            <a:xfrm>
              <a:off x="0" y="0"/>
              <a:ext cx="807107" cy="651811"/>
            </a:xfrm>
            <a:custGeom>
              <a:avLst/>
              <a:gdLst/>
              <a:ahLst/>
              <a:cxnLst/>
              <a:rect l="l" t="t" r="r" b="b"/>
              <a:pathLst>
                <a:path w="807107" h="651811">
                  <a:moveTo>
                    <a:pt x="86739" y="0"/>
                  </a:moveTo>
                  <a:lnTo>
                    <a:pt x="720367" y="0"/>
                  </a:lnTo>
                  <a:cubicBezTo>
                    <a:pt x="768272" y="0"/>
                    <a:pt x="807107" y="38834"/>
                    <a:pt x="807107" y="86739"/>
                  </a:cubicBezTo>
                  <a:lnTo>
                    <a:pt x="807107" y="565072"/>
                  </a:lnTo>
                  <a:cubicBezTo>
                    <a:pt x="807107" y="612977"/>
                    <a:pt x="768272" y="651811"/>
                    <a:pt x="720367" y="651811"/>
                  </a:cubicBezTo>
                  <a:lnTo>
                    <a:pt x="86739" y="651811"/>
                  </a:lnTo>
                  <a:cubicBezTo>
                    <a:pt x="38834" y="651811"/>
                    <a:pt x="0" y="612977"/>
                    <a:pt x="0" y="565072"/>
                  </a:cubicBezTo>
                  <a:lnTo>
                    <a:pt x="0" y="86739"/>
                  </a:lnTo>
                  <a:cubicBezTo>
                    <a:pt x="0" y="38834"/>
                    <a:pt x="38834" y="0"/>
                    <a:pt x="86739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30" name="TextBox 7">
              <a:extLst>
                <a:ext uri="{FF2B5EF4-FFF2-40B4-BE49-F238E27FC236}">
                  <a16:creationId xmlns:a16="http://schemas.microsoft.com/office/drawing/2014/main" id="{13CB4A2F-0085-D907-66B6-D1557DBE5415}"/>
                </a:ext>
              </a:extLst>
            </p:cNvPr>
            <p:cNvSpPr txBox="1"/>
            <p:nvPr/>
          </p:nvSpPr>
          <p:spPr>
            <a:xfrm>
              <a:off x="0" y="-47625"/>
              <a:ext cx="807107" cy="699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34" name="TextBox 16">
            <a:extLst>
              <a:ext uri="{FF2B5EF4-FFF2-40B4-BE49-F238E27FC236}">
                <a16:creationId xmlns:a16="http://schemas.microsoft.com/office/drawing/2014/main" id="{E56E2CA8-45FA-5B59-6C85-56E9C57D5C97}"/>
              </a:ext>
            </a:extLst>
          </p:cNvPr>
          <p:cNvSpPr txBox="1"/>
          <p:nvPr/>
        </p:nvSpPr>
        <p:spPr>
          <a:xfrm>
            <a:off x="6574156" y="5316769"/>
            <a:ext cx="3581400" cy="799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180"/>
              </a:lnSpc>
              <a:spcBef>
                <a:spcPct val="0"/>
              </a:spcBef>
            </a:pPr>
            <a:r>
              <a:rPr lang="ru-RU" sz="2400" b="1">
                <a:solidFill>
                  <a:srgbClr val="FFFFFF"/>
                </a:solidFill>
                <a:latin typeface="Geologica SemiBold" pitchFamily="2" charset="0"/>
                <a:ea typeface="Kollektif Bold"/>
                <a:cs typeface="Kollektif Bold"/>
                <a:sym typeface="Kollektif Bold"/>
              </a:rPr>
              <a:t>Шаблон </a:t>
            </a:r>
          </a:p>
          <a:p>
            <a:pPr lvl="0">
              <a:lnSpc>
                <a:spcPts val="3180"/>
              </a:lnSpc>
              <a:spcBef>
                <a:spcPct val="0"/>
              </a:spcBef>
            </a:pPr>
            <a:r>
              <a:rPr lang="ru-RU" sz="2400" b="1">
                <a:solidFill>
                  <a:srgbClr val="FFFFFF"/>
                </a:solidFill>
                <a:latin typeface="Geologica SemiBold" pitchFamily="2" charset="0"/>
                <a:ea typeface="Kollektif Bold"/>
                <a:cs typeface="Kollektif Bold"/>
                <a:sym typeface="Kollektif Bold"/>
              </a:rPr>
              <a:t>проєктування </a:t>
            </a:r>
            <a:r>
              <a:rPr lang="en-US" sz="2400" b="1">
                <a:solidFill>
                  <a:srgbClr val="FFFFFF"/>
                </a:solidFill>
                <a:latin typeface="Geologica SemiBold" pitchFamily="2" charset="0"/>
                <a:ea typeface="Kollektif Bold"/>
                <a:cs typeface="Kollektif Bold"/>
                <a:sym typeface="Kollektif Bold"/>
              </a:rPr>
              <a:t>MVC:</a:t>
            </a:r>
            <a:endParaRPr lang="ru-RU" sz="2400" b="1">
              <a:solidFill>
                <a:srgbClr val="FFFFFF"/>
              </a:solidFill>
              <a:latin typeface="Geologica SemiBold" pitchFamily="2" charset="0"/>
              <a:ea typeface="Kollektif Bold"/>
              <a:cs typeface="Kollektif Bold"/>
              <a:sym typeface="Kollektif Bold"/>
            </a:endParaRPr>
          </a:p>
        </p:txBody>
      </p:sp>
      <p:sp>
        <p:nvSpPr>
          <p:cNvPr id="35" name="TextBox 17">
            <a:extLst>
              <a:ext uri="{FF2B5EF4-FFF2-40B4-BE49-F238E27FC236}">
                <a16:creationId xmlns:a16="http://schemas.microsoft.com/office/drawing/2014/main" id="{7FB1C5B3-D41F-D1E0-9490-FA686F6B8071}"/>
              </a:ext>
            </a:extLst>
          </p:cNvPr>
          <p:cNvSpPr txBox="1"/>
          <p:nvPr/>
        </p:nvSpPr>
        <p:spPr>
          <a:xfrm>
            <a:off x="6341743" y="6372835"/>
            <a:ext cx="3813813" cy="27545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1" indent="-342900">
              <a:lnSpc>
                <a:spcPts val="31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розмежування </a:t>
            </a:r>
            <a:r>
              <a:rPr lang="en-US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Model, View </a:t>
            </a:r>
            <a:r>
              <a:rPr lang="ru-RU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і </a:t>
            </a:r>
            <a:r>
              <a:rPr lang="en-US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Controller;</a:t>
            </a:r>
          </a:p>
          <a:p>
            <a:pPr marL="342900" lvl="1" indent="-342900">
              <a:lnSpc>
                <a:spcPts val="31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спрощення розробки та тестування;</a:t>
            </a:r>
          </a:p>
          <a:p>
            <a:pPr marL="342900" lvl="1" indent="-342900">
              <a:lnSpc>
                <a:spcPts val="31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чіткий поділ відповідальності між компонентами.</a:t>
            </a:r>
            <a:endParaRPr lang="en-US" sz="2100" u="none" strike="noStrike">
              <a:solidFill>
                <a:srgbClr val="FFFFFF"/>
              </a:solidFill>
              <a:latin typeface="Geologica Thin" pitchFamily="2" charset="0"/>
              <a:ea typeface="Kollektif"/>
              <a:cs typeface="Kollektif"/>
              <a:sym typeface="Kollektif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135959D-EA27-4105-D757-53150F0AA5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082" y="1510855"/>
            <a:ext cx="6647112" cy="443698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E39D6CB-A201-3E4A-1A44-705D3C2B8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6471" y="6296776"/>
            <a:ext cx="5794711" cy="2830596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4218" y="2285896"/>
            <a:ext cx="5097641" cy="7400322"/>
            <a:chOff x="0" y="0"/>
            <a:chExt cx="1342589" cy="19490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42589" cy="1949056"/>
            </a:xfrm>
            <a:custGeom>
              <a:avLst/>
              <a:gdLst/>
              <a:ahLst/>
              <a:cxnLst/>
              <a:rect l="l" t="t" r="r" b="b"/>
              <a:pathLst>
                <a:path w="1342589" h="1949056">
                  <a:moveTo>
                    <a:pt x="36449" y="0"/>
                  </a:moveTo>
                  <a:lnTo>
                    <a:pt x="1306139" y="0"/>
                  </a:lnTo>
                  <a:cubicBezTo>
                    <a:pt x="1315806" y="0"/>
                    <a:pt x="1325077" y="3840"/>
                    <a:pt x="1331913" y="10676"/>
                  </a:cubicBezTo>
                  <a:cubicBezTo>
                    <a:pt x="1338748" y="17511"/>
                    <a:pt x="1342589" y="26782"/>
                    <a:pt x="1342589" y="36449"/>
                  </a:cubicBezTo>
                  <a:lnTo>
                    <a:pt x="1342589" y="1912607"/>
                  </a:lnTo>
                  <a:cubicBezTo>
                    <a:pt x="1342589" y="1932737"/>
                    <a:pt x="1326270" y="1949056"/>
                    <a:pt x="1306139" y="1949056"/>
                  </a:cubicBezTo>
                  <a:lnTo>
                    <a:pt x="36449" y="1949056"/>
                  </a:lnTo>
                  <a:cubicBezTo>
                    <a:pt x="16319" y="1949056"/>
                    <a:pt x="0" y="1932737"/>
                    <a:pt x="0" y="1912607"/>
                  </a:cubicBezTo>
                  <a:lnTo>
                    <a:pt x="0" y="36449"/>
                  </a:lnTo>
                  <a:cubicBezTo>
                    <a:pt x="0" y="16319"/>
                    <a:pt x="16319" y="0"/>
                    <a:pt x="36449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42589" cy="1987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65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109984" y="2285896"/>
            <a:ext cx="11512980" cy="7400322"/>
            <a:chOff x="0" y="0"/>
            <a:chExt cx="3032225" cy="19490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32225" cy="1949056"/>
            </a:xfrm>
            <a:custGeom>
              <a:avLst/>
              <a:gdLst/>
              <a:ahLst/>
              <a:cxnLst/>
              <a:rect l="l" t="t" r="r" b="b"/>
              <a:pathLst>
                <a:path w="3032225" h="1949056">
                  <a:moveTo>
                    <a:pt x="16139" y="0"/>
                  </a:moveTo>
                  <a:lnTo>
                    <a:pt x="3016086" y="0"/>
                  </a:lnTo>
                  <a:cubicBezTo>
                    <a:pt x="3020366" y="0"/>
                    <a:pt x="3024471" y="1700"/>
                    <a:pt x="3027498" y="4727"/>
                  </a:cubicBezTo>
                  <a:cubicBezTo>
                    <a:pt x="3030525" y="7754"/>
                    <a:pt x="3032225" y="11859"/>
                    <a:pt x="3032225" y="16139"/>
                  </a:cubicBezTo>
                  <a:lnTo>
                    <a:pt x="3032225" y="1932917"/>
                  </a:lnTo>
                  <a:cubicBezTo>
                    <a:pt x="3032225" y="1937197"/>
                    <a:pt x="3030525" y="1941302"/>
                    <a:pt x="3027498" y="1944329"/>
                  </a:cubicBezTo>
                  <a:cubicBezTo>
                    <a:pt x="3024471" y="1947356"/>
                    <a:pt x="3020366" y="1949056"/>
                    <a:pt x="3016086" y="1949056"/>
                  </a:cubicBezTo>
                  <a:lnTo>
                    <a:pt x="16139" y="1949056"/>
                  </a:lnTo>
                  <a:cubicBezTo>
                    <a:pt x="11859" y="1949056"/>
                    <a:pt x="7754" y="1947356"/>
                    <a:pt x="4727" y="1944329"/>
                  </a:cubicBezTo>
                  <a:cubicBezTo>
                    <a:pt x="1700" y="1941302"/>
                    <a:pt x="0" y="1937197"/>
                    <a:pt x="0" y="1932917"/>
                  </a:cubicBezTo>
                  <a:lnTo>
                    <a:pt x="0" y="16139"/>
                  </a:lnTo>
                  <a:cubicBezTo>
                    <a:pt x="0" y="11859"/>
                    <a:pt x="1700" y="7754"/>
                    <a:pt x="4727" y="4727"/>
                  </a:cubicBezTo>
                  <a:cubicBezTo>
                    <a:pt x="7754" y="1700"/>
                    <a:pt x="11859" y="0"/>
                    <a:pt x="16139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032225" cy="1987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65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39005" y="2566614"/>
            <a:ext cx="4368067" cy="647237"/>
            <a:chOff x="0" y="0"/>
            <a:chExt cx="1150437" cy="17046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50437" cy="170466"/>
            </a:xfrm>
            <a:custGeom>
              <a:avLst/>
              <a:gdLst/>
              <a:ahLst/>
              <a:cxnLst/>
              <a:rect l="l" t="t" r="r" b="b"/>
              <a:pathLst>
                <a:path w="1150437" h="170466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50437" cy="2085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65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682440" y="2566614"/>
            <a:ext cx="4368067" cy="647237"/>
            <a:chOff x="0" y="0"/>
            <a:chExt cx="1150437" cy="17046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50437" cy="170466"/>
            </a:xfrm>
            <a:custGeom>
              <a:avLst/>
              <a:gdLst/>
              <a:ahLst/>
              <a:cxnLst/>
              <a:rect l="l" t="t" r="r" b="b"/>
              <a:pathLst>
                <a:path w="1150437" h="170466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150437" cy="2085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65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4601886" y="1060439"/>
            <a:ext cx="9084227" cy="728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600"/>
              </a:lnSpc>
            </a:pPr>
            <a:r>
              <a:rPr lang="uk-UA" sz="4800" b="1" u="none" strike="noStrike">
                <a:solidFill>
                  <a:srgbClr val="FFFFFF"/>
                </a:solidFill>
                <a:latin typeface="Geologica" pitchFamily="2" charset="0"/>
                <a:ea typeface="Kollektif Bold"/>
                <a:cs typeface="Kollektif Bold"/>
                <a:sym typeface="Kollektif Bold"/>
              </a:rPr>
              <a:t>ЗАСОБИ РЕАЛІЗАЦІЇ</a:t>
            </a:r>
            <a:endParaRPr lang="en-US" sz="4800" b="1" u="none" strike="noStrike">
              <a:solidFill>
                <a:srgbClr val="FFFFFF"/>
              </a:solidFill>
              <a:latin typeface="Geologica" pitchFamily="2" charset="0"/>
              <a:ea typeface="Kollektif Bold"/>
              <a:cs typeface="Kollektif Bold"/>
              <a:sym typeface="Kollektif Bold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747770" y="2727086"/>
            <a:ext cx="3150536" cy="38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9"/>
              </a:lnSpc>
            </a:pPr>
            <a:r>
              <a:rPr lang="uk-UA" sz="2400" b="1">
                <a:solidFill>
                  <a:srgbClr val="FFFFFF"/>
                </a:solidFill>
                <a:latin typeface="Geologica SemiBold" pitchFamily="2" charset="0"/>
                <a:ea typeface="Kollektif Bold"/>
                <a:cs typeface="Kollektif Bold"/>
                <a:sym typeface="Kollektif Bold"/>
              </a:rPr>
              <a:t>НАЗВИ</a:t>
            </a:r>
            <a:endParaRPr lang="en-US" sz="2400" b="1">
              <a:solidFill>
                <a:srgbClr val="FFFFFF"/>
              </a:solidFill>
              <a:latin typeface="Geologica SemiBold" pitchFamily="2" charset="0"/>
              <a:ea typeface="Kollektif Bold"/>
              <a:cs typeface="Kollektif Bold"/>
              <a:sym typeface="Kollektif Bold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0291206" y="2730652"/>
            <a:ext cx="3150536" cy="38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9"/>
              </a:lnSpc>
            </a:pPr>
            <a:r>
              <a:rPr lang="uk-UA" sz="2400" b="1">
                <a:solidFill>
                  <a:srgbClr val="FFFFFF"/>
                </a:solidFill>
                <a:latin typeface="Geologica SemiBold" pitchFamily="2" charset="0"/>
                <a:ea typeface="Kollektif Bold"/>
                <a:cs typeface="Kollektif Bold"/>
                <a:sym typeface="Kollektif Bold"/>
              </a:rPr>
              <a:t>ТЕХНОЛОГІЇ</a:t>
            </a:r>
            <a:endParaRPr lang="en-US" sz="2400" b="1">
              <a:solidFill>
                <a:srgbClr val="FFFFFF"/>
              </a:solidFill>
              <a:latin typeface="Geologica SemiBold" pitchFamily="2" charset="0"/>
              <a:ea typeface="Kollektif Bold"/>
              <a:cs typeface="Kollektif Bold"/>
              <a:sym typeface="Kollektif Bold"/>
            </a:endParaRPr>
          </a:p>
        </p:txBody>
      </p:sp>
      <p:sp>
        <p:nvSpPr>
          <p:cNvPr id="41" name="TextBox 5">
            <a:extLst>
              <a:ext uri="{FF2B5EF4-FFF2-40B4-BE49-F238E27FC236}">
                <a16:creationId xmlns:a16="http://schemas.microsoft.com/office/drawing/2014/main" id="{3F73DB81-80AD-052B-0E4E-9233CB57BFC8}"/>
              </a:ext>
            </a:extLst>
          </p:cNvPr>
          <p:cNvSpPr txBox="1"/>
          <p:nvPr/>
        </p:nvSpPr>
        <p:spPr>
          <a:xfrm>
            <a:off x="1028700" y="459921"/>
            <a:ext cx="1790700" cy="18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uk-UA" sz="1400" b="1" spc="-58">
                <a:solidFill>
                  <a:srgbClr val="FFFFFF"/>
                </a:solidFill>
                <a:latin typeface="Geologica" pitchFamily="2" charset="0"/>
                <a:ea typeface="Kollektif Bold"/>
                <a:cs typeface="Kollektif Bold"/>
                <a:sym typeface="Kollektif Bold"/>
              </a:rPr>
              <a:t>ОНУ ім. Мечникова</a:t>
            </a:r>
            <a:endParaRPr lang="en-US" sz="1400" b="1" spc="-58">
              <a:solidFill>
                <a:srgbClr val="FFFFFF"/>
              </a:solidFill>
              <a:latin typeface="Geologica" pitchFamily="2" charset="0"/>
              <a:ea typeface="Kollektif Bold"/>
              <a:cs typeface="Kollektif Bold"/>
              <a:sym typeface="Kollektif Bold"/>
            </a:endParaRPr>
          </a:p>
        </p:txBody>
      </p:sp>
      <p:sp>
        <p:nvSpPr>
          <p:cNvPr id="42" name="TextBox 6">
            <a:extLst>
              <a:ext uri="{FF2B5EF4-FFF2-40B4-BE49-F238E27FC236}">
                <a16:creationId xmlns:a16="http://schemas.microsoft.com/office/drawing/2014/main" id="{5CA256B3-5230-FBE9-9578-1EE592F3285C}"/>
              </a:ext>
            </a:extLst>
          </p:cNvPr>
          <p:cNvSpPr txBox="1"/>
          <p:nvPr/>
        </p:nvSpPr>
        <p:spPr>
          <a:xfrm>
            <a:off x="16535401" y="432599"/>
            <a:ext cx="723900" cy="18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Geologica" pitchFamily="2" charset="0"/>
                <a:ea typeface="Kollektif Bold"/>
                <a:cs typeface="Kollektif Bold"/>
                <a:sym typeface="Kollektif Bold"/>
              </a:rPr>
              <a:t>2026</a:t>
            </a:r>
          </a:p>
        </p:txBody>
      </p:sp>
      <p:sp>
        <p:nvSpPr>
          <p:cNvPr id="43" name="TextBox 5">
            <a:extLst>
              <a:ext uri="{FF2B5EF4-FFF2-40B4-BE49-F238E27FC236}">
                <a16:creationId xmlns:a16="http://schemas.microsoft.com/office/drawing/2014/main" id="{1F5ACA87-8662-9D6E-67F3-96510230E4DA}"/>
              </a:ext>
            </a:extLst>
          </p:cNvPr>
          <p:cNvSpPr txBox="1"/>
          <p:nvPr/>
        </p:nvSpPr>
        <p:spPr>
          <a:xfrm>
            <a:off x="8248650" y="470767"/>
            <a:ext cx="1790700" cy="18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Geologica" pitchFamily="2" charset="0"/>
                <a:ea typeface="Kollektif Bold"/>
                <a:cs typeface="Kollektif Bold"/>
                <a:sym typeface="Kollektif Bold"/>
              </a:rPr>
              <a:t>CASEFLOW</a:t>
            </a:r>
          </a:p>
        </p:txBody>
      </p:sp>
      <p:sp>
        <p:nvSpPr>
          <p:cNvPr id="45" name="TextBox 9">
            <a:extLst>
              <a:ext uri="{FF2B5EF4-FFF2-40B4-BE49-F238E27FC236}">
                <a16:creationId xmlns:a16="http://schemas.microsoft.com/office/drawing/2014/main" id="{76E4879B-BF4D-6855-C5D2-7ADEB8CF3E7F}"/>
              </a:ext>
            </a:extLst>
          </p:cNvPr>
          <p:cNvSpPr txBox="1"/>
          <p:nvPr/>
        </p:nvSpPr>
        <p:spPr>
          <a:xfrm>
            <a:off x="1133152" y="3458401"/>
            <a:ext cx="4368067" cy="3811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lvl="0" indent="-51435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uk-UA" sz="2800" b="1">
                <a:solidFill>
                  <a:srgbClr val="FFFFFF"/>
                </a:solidFill>
                <a:latin typeface="Geologica SemiBold" pitchFamily="2" charset="0"/>
                <a:ea typeface="Kollektif Bold"/>
                <a:cs typeface="Kollektif Bold"/>
                <a:sym typeface="Kollektif Bold"/>
              </a:rPr>
              <a:t>С</a:t>
            </a:r>
            <a:r>
              <a:rPr lang="en-US" sz="2800" b="1">
                <a:solidFill>
                  <a:srgbClr val="FFFFFF"/>
                </a:solidFill>
                <a:latin typeface="Geologica SemiBold" pitchFamily="2" charset="0"/>
                <a:ea typeface="Kollektif Bold"/>
                <a:cs typeface="Kollektif Bold"/>
                <a:sym typeface="Kollektif Bold"/>
              </a:rPr>
              <a:t>#</a:t>
            </a:r>
          </a:p>
          <a:p>
            <a:pPr marL="514350" lvl="0" indent="-51435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800" b="1">
                <a:solidFill>
                  <a:srgbClr val="FFFFFF"/>
                </a:solidFill>
                <a:latin typeface="Geologica SemiBold" pitchFamily="2" charset="0"/>
                <a:ea typeface="Kollektif Bold"/>
                <a:cs typeface="Kollektif Bold"/>
                <a:sym typeface="Kollektif Bold"/>
              </a:rPr>
              <a:t>Razor Pages</a:t>
            </a:r>
          </a:p>
          <a:p>
            <a:pPr marL="514350" lvl="0" indent="-51435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800" b="1">
                <a:solidFill>
                  <a:srgbClr val="FFFFFF"/>
                </a:solidFill>
                <a:latin typeface="Geologica SemiBold" pitchFamily="2" charset="0"/>
                <a:ea typeface="Kollektif Bold"/>
                <a:cs typeface="Kollektif Bold"/>
                <a:sym typeface="Kollektif Bold"/>
              </a:rPr>
              <a:t>PostgreSQL</a:t>
            </a:r>
          </a:p>
          <a:p>
            <a:pPr marL="514350" lvl="0" indent="-51435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800" b="1">
                <a:solidFill>
                  <a:srgbClr val="FFFFFF"/>
                </a:solidFill>
                <a:latin typeface="Geologica SemiBold" pitchFamily="2" charset="0"/>
                <a:ea typeface="Kollektif Bold"/>
                <a:cs typeface="Kollektif Bold"/>
                <a:sym typeface="Kollektif Bold"/>
              </a:rPr>
              <a:t>EF Core</a:t>
            </a:r>
          </a:p>
          <a:p>
            <a:pPr marL="514350" lvl="0" indent="-51435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800" b="1">
                <a:solidFill>
                  <a:srgbClr val="FFFFFF"/>
                </a:solidFill>
                <a:latin typeface="Geologica SemiBold" pitchFamily="2" charset="0"/>
                <a:ea typeface="Kollektif Bold"/>
                <a:cs typeface="Kollektif Bold"/>
                <a:sym typeface="Kollektif Bold"/>
              </a:rPr>
              <a:t>jQuery</a:t>
            </a:r>
            <a:endParaRPr lang="ru-RU" sz="2800" b="1">
              <a:solidFill>
                <a:srgbClr val="FFFFFF"/>
              </a:solidFill>
              <a:latin typeface="Geologica SemiBold" pitchFamily="2" charset="0"/>
              <a:ea typeface="Kollektif Bold"/>
              <a:cs typeface="Kollektif Bold"/>
              <a:sym typeface="Kollektif Bold"/>
            </a:endParaRPr>
          </a:p>
          <a:p>
            <a:pPr marL="514350" lvl="0" indent="-51435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800" b="1">
                <a:solidFill>
                  <a:srgbClr val="FFFFFF"/>
                </a:solidFill>
                <a:latin typeface="Geologica SemiBold" pitchFamily="2" charset="0"/>
                <a:ea typeface="Kollektif Bold"/>
                <a:cs typeface="Kollektif Bold"/>
                <a:sym typeface="Kollektif Bold"/>
              </a:rPr>
              <a:t>Dapper</a:t>
            </a:r>
            <a:endParaRPr lang="uk-UA" sz="2800" b="1">
              <a:solidFill>
                <a:srgbClr val="FFFFFF"/>
              </a:solidFill>
              <a:latin typeface="Geologica SemiBold" pitchFamily="2" charset="0"/>
              <a:ea typeface="Kollektif Bold"/>
              <a:cs typeface="Kollektif Bold"/>
              <a:sym typeface="Kollektif Bold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5C280D3-54A5-98E6-ACC2-E5EAB3FA9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3266" y="2913730"/>
            <a:ext cx="3813629" cy="3813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Live ASP.NET Core Razor Pages Samples - SpreadsheetGear">
            <a:extLst>
              <a:ext uri="{FF2B5EF4-FFF2-40B4-BE49-F238E27FC236}">
                <a16:creationId xmlns:a16="http://schemas.microsoft.com/office/drawing/2014/main" id="{98FB6F31-B405-C71C-6800-8709489E5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3827" y="6475073"/>
            <a:ext cx="2214407" cy="2214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Postgresql Logo transparent background PNG cliparts free download |  HiClipart">
            <a:extLst>
              <a:ext uri="{FF2B5EF4-FFF2-40B4-BE49-F238E27FC236}">
                <a16:creationId xmlns:a16="http://schemas.microsoft.com/office/drawing/2014/main" id="{56A09BF6-C22C-6A8F-80C7-48F207DC1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9654" y="3321171"/>
            <a:ext cx="3806757" cy="3813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Porting to Entity Framework Core - CodeOpinion">
            <a:extLst>
              <a:ext uri="{FF2B5EF4-FFF2-40B4-BE49-F238E27FC236}">
                <a16:creationId xmlns:a16="http://schemas.microsoft.com/office/drawing/2014/main" id="{820DCEB7-31E4-1A46-4CA7-0D0E145C2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8315" y="6475073"/>
            <a:ext cx="2252506" cy="2252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Jquery plain wordmark logo - free Icon PNG, SVG">
            <a:extLst>
              <a:ext uri="{FF2B5EF4-FFF2-40B4-BE49-F238E27FC236}">
                <a16:creationId xmlns:a16="http://schemas.microsoft.com/office/drawing/2014/main" id="{9C8FD16E-BD98-6204-921C-0CA34CADFD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7579" y="3621292"/>
            <a:ext cx="2357822" cy="235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Рисунок 14" descr="Изображение выглядит как Графика, Шрифт, логотип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9FC82FD-78EF-481A-DC6C-0FF2509A005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4457" y="5747182"/>
            <a:ext cx="5437615" cy="3813629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0" y="342900"/>
            <a:ext cx="15779408" cy="13471670"/>
          </a:xfrm>
          <a:custGeom>
            <a:avLst/>
            <a:gdLst/>
            <a:ahLst/>
            <a:cxnLst/>
            <a:rect l="l" t="t" r="r" b="b"/>
            <a:pathLst>
              <a:path w="15779408" h="13471670">
                <a:moveTo>
                  <a:pt x="0" y="0"/>
                </a:moveTo>
                <a:lnTo>
                  <a:pt x="15779408" y="0"/>
                </a:lnTo>
                <a:lnTo>
                  <a:pt x="15779408" y="13471670"/>
                </a:lnTo>
                <a:lnTo>
                  <a:pt x="0" y="134716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BAD01AC9-6238-5AD5-A017-A5021E6FACF0}"/>
              </a:ext>
            </a:extLst>
          </p:cNvPr>
          <p:cNvSpPr txBox="1"/>
          <p:nvPr/>
        </p:nvSpPr>
        <p:spPr>
          <a:xfrm>
            <a:off x="1028700" y="459921"/>
            <a:ext cx="1790700" cy="18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uk-UA" sz="1400" b="1" spc="-58">
                <a:solidFill>
                  <a:srgbClr val="FFFFFF"/>
                </a:solidFill>
                <a:latin typeface="Geologica" pitchFamily="2" charset="0"/>
                <a:ea typeface="Kollektif Bold"/>
                <a:cs typeface="Kollektif Bold"/>
                <a:sym typeface="Kollektif Bold"/>
              </a:rPr>
              <a:t>ОНУ ім. Мечникова</a:t>
            </a:r>
            <a:endParaRPr lang="en-US" sz="1400" b="1" spc="-58">
              <a:solidFill>
                <a:srgbClr val="FFFFFF"/>
              </a:solidFill>
              <a:latin typeface="Geologica" pitchFamily="2" charset="0"/>
              <a:ea typeface="Kollektif Bold"/>
              <a:cs typeface="Kollektif Bold"/>
              <a:sym typeface="Kollektif Bold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CB59E453-18B0-C93B-8517-AFADDF7BB8AD}"/>
              </a:ext>
            </a:extLst>
          </p:cNvPr>
          <p:cNvSpPr txBox="1"/>
          <p:nvPr/>
        </p:nvSpPr>
        <p:spPr>
          <a:xfrm>
            <a:off x="16535401" y="432599"/>
            <a:ext cx="723900" cy="18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Geologica" pitchFamily="2" charset="0"/>
                <a:ea typeface="Kollektif Bold"/>
                <a:cs typeface="Kollektif Bold"/>
                <a:sym typeface="Kollektif Bold"/>
              </a:rPr>
              <a:t>2026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C9295B5D-2500-B892-9D1B-4614B703E0C7}"/>
              </a:ext>
            </a:extLst>
          </p:cNvPr>
          <p:cNvSpPr txBox="1"/>
          <p:nvPr/>
        </p:nvSpPr>
        <p:spPr>
          <a:xfrm>
            <a:off x="8248650" y="470767"/>
            <a:ext cx="1790700" cy="18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Geologica" pitchFamily="2" charset="0"/>
                <a:ea typeface="Kollektif Bold"/>
                <a:cs typeface="Kollektif Bold"/>
                <a:sym typeface="Kollektif Bold"/>
              </a:rPr>
              <a:t>CASEFLOW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6D74F8-6483-E2C9-8601-172861657126}"/>
              </a:ext>
            </a:extLst>
          </p:cNvPr>
          <p:cNvSpPr txBox="1"/>
          <p:nvPr/>
        </p:nvSpPr>
        <p:spPr>
          <a:xfrm>
            <a:off x="1028700" y="1152525"/>
            <a:ext cx="8591470" cy="875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</a:pPr>
            <a:r>
              <a:rPr lang="en-US" sz="4800" b="1">
                <a:solidFill>
                  <a:srgbClr val="FFFFFF"/>
                </a:solidFill>
                <a:latin typeface="Geologica" pitchFamily="2" charset="0"/>
                <a:ea typeface="Kollektif"/>
                <a:cs typeface="Kollektif"/>
                <a:sym typeface="Kollektif"/>
              </a:rPr>
              <a:t>ER-</a:t>
            </a:r>
            <a:r>
              <a:rPr lang="uk-UA" sz="4800" b="1">
                <a:solidFill>
                  <a:srgbClr val="FFFFFF"/>
                </a:solidFill>
                <a:latin typeface="Geologica" pitchFamily="2" charset="0"/>
                <a:ea typeface="Kollektif"/>
                <a:cs typeface="Kollektif"/>
                <a:sym typeface="Kollektif"/>
              </a:rPr>
              <a:t>ДІАГРАМА ІС</a:t>
            </a:r>
            <a:endParaRPr lang="en-US" sz="5600" b="1" u="none" strike="noStrike">
              <a:solidFill>
                <a:srgbClr val="FFFFFF"/>
              </a:solidFill>
              <a:latin typeface="Geologica" pitchFamily="2" charset="0"/>
              <a:ea typeface="Kollektif"/>
              <a:cs typeface="Kollektif"/>
              <a:sym typeface="Kollektif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47B7E51F-E482-C7B6-F7EA-C81C84528E17}"/>
              </a:ext>
            </a:extLst>
          </p:cNvPr>
          <p:cNvGrpSpPr/>
          <p:nvPr/>
        </p:nvGrpSpPr>
        <p:grpSpPr>
          <a:xfrm>
            <a:off x="1028700" y="2442184"/>
            <a:ext cx="5067300" cy="7080192"/>
            <a:chOff x="0" y="0"/>
            <a:chExt cx="807107" cy="65181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0885F35-C938-1A8A-86C9-5676BFD9E674}"/>
                </a:ext>
              </a:extLst>
            </p:cNvPr>
            <p:cNvSpPr/>
            <p:nvPr/>
          </p:nvSpPr>
          <p:spPr>
            <a:xfrm>
              <a:off x="0" y="0"/>
              <a:ext cx="807107" cy="651811"/>
            </a:xfrm>
            <a:custGeom>
              <a:avLst/>
              <a:gdLst/>
              <a:ahLst/>
              <a:cxnLst/>
              <a:rect l="l" t="t" r="r" b="b"/>
              <a:pathLst>
                <a:path w="807107" h="651811">
                  <a:moveTo>
                    <a:pt x="86739" y="0"/>
                  </a:moveTo>
                  <a:lnTo>
                    <a:pt x="720367" y="0"/>
                  </a:lnTo>
                  <a:cubicBezTo>
                    <a:pt x="768272" y="0"/>
                    <a:pt x="807107" y="38834"/>
                    <a:pt x="807107" y="86739"/>
                  </a:cubicBezTo>
                  <a:lnTo>
                    <a:pt x="807107" y="565072"/>
                  </a:lnTo>
                  <a:cubicBezTo>
                    <a:pt x="807107" y="612977"/>
                    <a:pt x="768272" y="651811"/>
                    <a:pt x="720367" y="651811"/>
                  </a:cubicBezTo>
                  <a:lnTo>
                    <a:pt x="86739" y="651811"/>
                  </a:lnTo>
                  <a:cubicBezTo>
                    <a:pt x="38834" y="651811"/>
                    <a:pt x="0" y="612977"/>
                    <a:pt x="0" y="565072"/>
                  </a:cubicBezTo>
                  <a:lnTo>
                    <a:pt x="0" y="86739"/>
                  </a:lnTo>
                  <a:cubicBezTo>
                    <a:pt x="0" y="38834"/>
                    <a:pt x="38834" y="0"/>
                    <a:pt x="86739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0913457-B38B-1EE6-6C17-74C7907C9690}"/>
                </a:ext>
              </a:extLst>
            </p:cNvPr>
            <p:cNvSpPr txBox="1"/>
            <p:nvPr/>
          </p:nvSpPr>
          <p:spPr>
            <a:xfrm>
              <a:off x="0" y="-47625"/>
              <a:ext cx="807107" cy="699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TextBox 16">
            <a:extLst>
              <a:ext uri="{FF2B5EF4-FFF2-40B4-BE49-F238E27FC236}">
                <a16:creationId xmlns:a16="http://schemas.microsoft.com/office/drawing/2014/main" id="{37EBFB7A-F5CC-C023-3703-1A10AE7D6A7E}"/>
              </a:ext>
            </a:extLst>
          </p:cNvPr>
          <p:cNvSpPr txBox="1"/>
          <p:nvPr/>
        </p:nvSpPr>
        <p:spPr>
          <a:xfrm>
            <a:off x="1524000" y="3017319"/>
            <a:ext cx="3581400" cy="389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180"/>
              </a:lnSpc>
              <a:spcBef>
                <a:spcPct val="0"/>
              </a:spcBef>
            </a:pPr>
            <a:r>
              <a:rPr lang="ru-RU" sz="2400" b="1">
                <a:solidFill>
                  <a:srgbClr val="FFFFFF"/>
                </a:solidFill>
                <a:latin typeface="Geologica SemiBold" pitchFamily="2" charset="0"/>
                <a:ea typeface="Kollektif Bold"/>
                <a:cs typeface="Kollektif Bold"/>
                <a:sym typeface="Kollektif Bold"/>
              </a:rPr>
              <a:t>Таблиці:</a:t>
            </a: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00CA8AA7-4553-2BBE-EF62-DB67AD83A1CC}"/>
              </a:ext>
            </a:extLst>
          </p:cNvPr>
          <p:cNvSpPr txBox="1"/>
          <p:nvPr/>
        </p:nvSpPr>
        <p:spPr>
          <a:xfrm>
            <a:off x="1524000" y="3611641"/>
            <a:ext cx="3813813" cy="47974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1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Client</a:t>
            </a:r>
            <a:endParaRPr lang="en-US" sz="2100" u="none" strike="noStrike">
              <a:solidFill>
                <a:srgbClr val="FFFFFF"/>
              </a:solidFill>
              <a:latin typeface="Geologica Thin" pitchFamily="2" charset="0"/>
              <a:ea typeface="Kollektif"/>
              <a:cs typeface="Kollektif"/>
              <a:sym typeface="Kollektif"/>
            </a:endParaRPr>
          </a:p>
          <a:p>
            <a:pPr marL="342900" lvl="1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100" u="none" strike="noStrike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Case</a:t>
            </a:r>
          </a:p>
          <a:p>
            <a:pPr marL="342900" lvl="1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CaseSuspect</a:t>
            </a:r>
          </a:p>
          <a:p>
            <a:pPr marL="342900" lvl="1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100" u="none" strike="noStrike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CaseEvidence</a:t>
            </a:r>
          </a:p>
          <a:p>
            <a:pPr marL="342900" lvl="1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CaseType</a:t>
            </a:r>
          </a:p>
          <a:p>
            <a:pPr marL="342900" lvl="1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100" u="none" strike="noStrike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Evidence</a:t>
            </a:r>
          </a:p>
          <a:p>
            <a:pPr marL="342900" lvl="1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Detective</a:t>
            </a:r>
          </a:p>
          <a:p>
            <a:pPr marL="342900" lvl="1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100" u="none" strike="noStrike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Expense</a:t>
            </a:r>
          </a:p>
          <a:p>
            <a:pPr marL="342900" lvl="1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Report</a:t>
            </a:r>
          </a:p>
          <a:p>
            <a:pPr marL="342900" lvl="1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Suspect</a:t>
            </a:r>
            <a:endParaRPr lang="en-US" sz="2100" u="none" strike="noStrike">
              <a:solidFill>
                <a:srgbClr val="FFFFFF"/>
              </a:solidFill>
              <a:latin typeface="Geologica Thin" pitchFamily="2" charset="0"/>
              <a:ea typeface="Kollektif"/>
              <a:cs typeface="Kollektif"/>
              <a:sym typeface="Kollektif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F27FA2B-D58F-10DB-EE1F-A1BDD1CCA9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1539611"/>
            <a:ext cx="10336448" cy="731520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07C2D3-B1E7-F559-636E-D97F657E5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52FFC1ED-A445-2CA6-9474-B71ABA68BF6D}"/>
              </a:ext>
            </a:extLst>
          </p:cNvPr>
          <p:cNvSpPr txBox="1"/>
          <p:nvPr/>
        </p:nvSpPr>
        <p:spPr>
          <a:xfrm>
            <a:off x="1028700" y="459921"/>
            <a:ext cx="1790700" cy="18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uk-UA" sz="1400" b="1" spc="-58">
                <a:solidFill>
                  <a:srgbClr val="FFFFFF"/>
                </a:solidFill>
                <a:latin typeface="Geologica" pitchFamily="2" charset="0"/>
                <a:ea typeface="Kollektif Bold"/>
                <a:cs typeface="Kollektif Bold"/>
                <a:sym typeface="Kollektif Bold"/>
              </a:rPr>
              <a:t>ОНУ ім. Мечникова</a:t>
            </a:r>
            <a:endParaRPr lang="en-US" sz="1400" b="1" spc="-58">
              <a:solidFill>
                <a:srgbClr val="FFFFFF"/>
              </a:solidFill>
              <a:latin typeface="Geologica" pitchFamily="2" charset="0"/>
              <a:ea typeface="Kollektif Bold"/>
              <a:cs typeface="Kollektif Bold"/>
              <a:sym typeface="Kollektif Bold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12E85A12-4713-41CE-A2C3-847583211C44}"/>
              </a:ext>
            </a:extLst>
          </p:cNvPr>
          <p:cNvSpPr txBox="1"/>
          <p:nvPr/>
        </p:nvSpPr>
        <p:spPr>
          <a:xfrm>
            <a:off x="16535401" y="432599"/>
            <a:ext cx="723900" cy="18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Geologica" pitchFamily="2" charset="0"/>
                <a:ea typeface="Kollektif Bold"/>
                <a:cs typeface="Kollektif Bold"/>
                <a:sym typeface="Kollektif Bold"/>
              </a:rPr>
              <a:t>2026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38EE2EFC-DD63-F6F6-0D15-873678287722}"/>
              </a:ext>
            </a:extLst>
          </p:cNvPr>
          <p:cNvSpPr txBox="1"/>
          <p:nvPr/>
        </p:nvSpPr>
        <p:spPr>
          <a:xfrm>
            <a:off x="8248650" y="470767"/>
            <a:ext cx="1790700" cy="18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Geologica" pitchFamily="2" charset="0"/>
                <a:ea typeface="Kollektif Bold"/>
                <a:cs typeface="Kollektif Bold"/>
                <a:sym typeface="Kollektif Bold"/>
              </a:rPr>
              <a:t>CASEFLOW</a:t>
            </a:r>
          </a:p>
        </p:txBody>
      </p:sp>
      <p:sp>
        <p:nvSpPr>
          <p:cNvPr id="3" name="TextBox 37">
            <a:extLst>
              <a:ext uri="{FF2B5EF4-FFF2-40B4-BE49-F238E27FC236}">
                <a16:creationId xmlns:a16="http://schemas.microsoft.com/office/drawing/2014/main" id="{66A3AE8E-2D6B-A1CB-1ED3-FB12457D0C07}"/>
              </a:ext>
            </a:extLst>
          </p:cNvPr>
          <p:cNvSpPr txBox="1"/>
          <p:nvPr/>
        </p:nvSpPr>
        <p:spPr>
          <a:xfrm>
            <a:off x="4601886" y="1060439"/>
            <a:ext cx="9084227" cy="728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600"/>
              </a:lnSpc>
            </a:pPr>
            <a:r>
              <a:rPr lang="uk-UA" sz="4800" b="1">
                <a:solidFill>
                  <a:srgbClr val="FFFFFF"/>
                </a:solidFill>
                <a:latin typeface="Geologica" pitchFamily="2" charset="0"/>
                <a:ea typeface="Kollektif Bold"/>
                <a:cs typeface="Kollektif Bold"/>
                <a:sym typeface="Kollektif Bold"/>
              </a:rPr>
              <a:t>МОДЕЛЬ ЗАСТОСУНКУ</a:t>
            </a:r>
            <a:endParaRPr lang="en-US" sz="4800" b="1" u="none" strike="noStrike">
              <a:solidFill>
                <a:srgbClr val="FFFFFF"/>
              </a:solidFill>
              <a:latin typeface="Geologica" pitchFamily="2" charset="0"/>
              <a:ea typeface="Kollektif Bold"/>
              <a:cs typeface="Kollektif Bold"/>
              <a:sym typeface="Kollektif Bold"/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A11630BA-E280-3908-EA31-45A700F8B3A1}"/>
              </a:ext>
            </a:extLst>
          </p:cNvPr>
          <p:cNvSpPr txBox="1"/>
          <p:nvPr/>
        </p:nvSpPr>
        <p:spPr>
          <a:xfrm>
            <a:off x="1009650" y="2623019"/>
            <a:ext cx="1407795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ct val="0"/>
              </a:spcBef>
            </a:pPr>
            <a:r>
              <a:rPr lang="uk-UA" sz="2400" b="1">
                <a:solidFill>
                  <a:srgbClr val="FFFFFF"/>
                </a:solidFill>
                <a:latin typeface="Geologica SemiBold" pitchFamily="2" charset="0"/>
                <a:ea typeface="Kollektif Bold"/>
                <a:cs typeface="Kollektif Bold"/>
                <a:sym typeface="Kollektif Bold"/>
              </a:rPr>
              <a:t>Ієрархія форм підсистеми користувачів ІС «Приватне детективне агентство»</a:t>
            </a:r>
          </a:p>
        </p:txBody>
      </p:sp>
      <p:grpSp>
        <p:nvGrpSpPr>
          <p:cNvPr id="16" name="Group 2">
            <a:extLst>
              <a:ext uri="{FF2B5EF4-FFF2-40B4-BE49-F238E27FC236}">
                <a16:creationId xmlns:a16="http://schemas.microsoft.com/office/drawing/2014/main" id="{8ED5C56D-13E2-D2C0-204E-D2B30607E560}"/>
              </a:ext>
            </a:extLst>
          </p:cNvPr>
          <p:cNvGrpSpPr/>
          <p:nvPr/>
        </p:nvGrpSpPr>
        <p:grpSpPr>
          <a:xfrm>
            <a:off x="644862" y="2196285"/>
            <a:ext cx="16633488" cy="7619947"/>
            <a:chOff x="0" y="0"/>
            <a:chExt cx="1342589" cy="1949056"/>
          </a:xfrm>
        </p:grpSpPr>
        <p:sp>
          <p:nvSpPr>
            <p:cNvPr id="17" name="Freeform 3">
              <a:extLst>
                <a:ext uri="{FF2B5EF4-FFF2-40B4-BE49-F238E27FC236}">
                  <a16:creationId xmlns:a16="http://schemas.microsoft.com/office/drawing/2014/main" id="{A32E8696-C8FB-9CA6-E592-860339E5D451}"/>
                </a:ext>
              </a:extLst>
            </p:cNvPr>
            <p:cNvSpPr/>
            <p:nvPr/>
          </p:nvSpPr>
          <p:spPr>
            <a:xfrm>
              <a:off x="0" y="0"/>
              <a:ext cx="1342589" cy="1949056"/>
            </a:xfrm>
            <a:custGeom>
              <a:avLst/>
              <a:gdLst/>
              <a:ahLst/>
              <a:cxnLst/>
              <a:rect l="l" t="t" r="r" b="b"/>
              <a:pathLst>
                <a:path w="1342589" h="1949056">
                  <a:moveTo>
                    <a:pt x="36449" y="0"/>
                  </a:moveTo>
                  <a:lnTo>
                    <a:pt x="1306139" y="0"/>
                  </a:lnTo>
                  <a:cubicBezTo>
                    <a:pt x="1315806" y="0"/>
                    <a:pt x="1325077" y="3840"/>
                    <a:pt x="1331913" y="10676"/>
                  </a:cubicBezTo>
                  <a:cubicBezTo>
                    <a:pt x="1338748" y="17511"/>
                    <a:pt x="1342589" y="26782"/>
                    <a:pt x="1342589" y="36449"/>
                  </a:cubicBezTo>
                  <a:lnTo>
                    <a:pt x="1342589" y="1912607"/>
                  </a:lnTo>
                  <a:cubicBezTo>
                    <a:pt x="1342589" y="1932737"/>
                    <a:pt x="1326270" y="1949056"/>
                    <a:pt x="1306139" y="1949056"/>
                  </a:cubicBezTo>
                  <a:lnTo>
                    <a:pt x="36449" y="1949056"/>
                  </a:lnTo>
                  <a:cubicBezTo>
                    <a:pt x="16319" y="1949056"/>
                    <a:pt x="0" y="1932737"/>
                    <a:pt x="0" y="1912607"/>
                  </a:cubicBezTo>
                  <a:lnTo>
                    <a:pt x="0" y="36449"/>
                  </a:lnTo>
                  <a:cubicBezTo>
                    <a:pt x="0" y="16319"/>
                    <a:pt x="16319" y="0"/>
                    <a:pt x="36449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8" name="TextBox 4">
              <a:extLst>
                <a:ext uri="{FF2B5EF4-FFF2-40B4-BE49-F238E27FC236}">
                  <a16:creationId xmlns:a16="http://schemas.microsoft.com/office/drawing/2014/main" id="{3A6BEB28-FC49-4D6A-9BDF-AAE08C79D6CE}"/>
                </a:ext>
              </a:extLst>
            </p:cNvPr>
            <p:cNvSpPr txBox="1"/>
            <p:nvPr/>
          </p:nvSpPr>
          <p:spPr>
            <a:xfrm>
              <a:off x="0" y="-38100"/>
              <a:ext cx="1342589" cy="1987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65"/>
                </a:lnSpc>
              </a:pPr>
              <a:endParaRPr/>
            </a:p>
          </p:txBody>
        </p:sp>
      </p:grp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9380CEB-7A02-2AA2-408B-93D9B4CD1B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2872" y="3220401"/>
            <a:ext cx="10837467" cy="6095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654014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45FBFD-77AB-C3E5-782F-0CA9B23B0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A9C26B9-DE91-C9B8-FA62-8B17A63266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-2058792">
            <a:off x="-708672" y="-11518803"/>
            <a:ext cx="21340665" cy="19793467"/>
          </a:xfrm>
          <a:custGeom>
            <a:avLst/>
            <a:gdLst/>
            <a:ahLst/>
            <a:cxnLst/>
            <a:rect l="l" t="t" r="r" b="b"/>
            <a:pathLst>
              <a:path w="21340665" h="19793467">
                <a:moveTo>
                  <a:pt x="0" y="0"/>
                </a:moveTo>
                <a:lnTo>
                  <a:pt x="21340665" y="0"/>
                </a:lnTo>
                <a:lnTo>
                  <a:pt x="21340665" y="19793467"/>
                </a:lnTo>
                <a:lnTo>
                  <a:pt x="0" y="19793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ru-UA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24EEAAC-12B4-503E-544A-50673B06F928}"/>
              </a:ext>
            </a:extLst>
          </p:cNvPr>
          <p:cNvGrpSpPr/>
          <p:nvPr/>
        </p:nvGrpSpPr>
        <p:grpSpPr>
          <a:xfrm>
            <a:off x="1028699" y="2219007"/>
            <a:ext cx="16230601" cy="7420293"/>
            <a:chOff x="0" y="0"/>
            <a:chExt cx="1378656" cy="145917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5EA81DD-C8F0-5140-F5CD-D3A1D84A0BDA}"/>
                </a:ext>
              </a:extLst>
            </p:cNvPr>
            <p:cNvSpPr/>
            <p:nvPr/>
          </p:nvSpPr>
          <p:spPr>
            <a:xfrm>
              <a:off x="0" y="0"/>
              <a:ext cx="1378656" cy="1459170"/>
            </a:xfrm>
            <a:custGeom>
              <a:avLst/>
              <a:gdLst/>
              <a:ahLst/>
              <a:cxnLst/>
              <a:rect l="l" t="t" r="r" b="b"/>
              <a:pathLst>
                <a:path w="1378656" h="1459170">
                  <a:moveTo>
                    <a:pt x="50780" y="0"/>
                  </a:moveTo>
                  <a:lnTo>
                    <a:pt x="1327876" y="0"/>
                  </a:lnTo>
                  <a:cubicBezTo>
                    <a:pt x="1355921" y="0"/>
                    <a:pt x="1378656" y="22735"/>
                    <a:pt x="1378656" y="50780"/>
                  </a:cubicBezTo>
                  <a:lnTo>
                    <a:pt x="1378656" y="1408391"/>
                  </a:lnTo>
                  <a:cubicBezTo>
                    <a:pt x="1378656" y="1436436"/>
                    <a:pt x="1355921" y="1459170"/>
                    <a:pt x="1327876" y="1459170"/>
                  </a:cubicBezTo>
                  <a:lnTo>
                    <a:pt x="50780" y="1459170"/>
                  </a:lnTo>
                  <a:cubicBezTo>
                    <a:pt x="22735" y="1459170"/>
                    <a:pt x="0" y="1436436"/>
                    <a:pt x="0" y="1408391"/>
                  </a:cubicBezTo>
                  <a:lnTo>
                    <a:pt x="0" y="50780"/>
                  </a:lnTo>
                  <a:cubicBezTo>
                    <a:pt x="0" y="22735"/>
                    <a:pt x="22735" y="0"/>
                    <a:pt x="50780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DA04897-C2E1-56E5-3A3F-06B283062D90}"/>
                </a:ext>
              </a:extLst>
            </p:cNvPr>
            <p:cNvSpPr txBox="1"/>
            <p:nvPr/>
          </p:nvSpPr>
          <p:spPr>
            <a:xfrm>
              <a:off x="0" y="-47625"/>
              <a:ext cx="1378656" cy="15067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6" name="TextBox 37">
            <a:extLst>
              <a:ext uri="{FF2B5EF4-FFF2-40B4-BE49-F238E27FC236}">
                <a16:creationId xmlns:a16="http://schemas.microsoft.com/office/drawing/2014/main" id="{EE3E726E-AB9A-5323-261C-A931A0A83490}"/>
              </a:ext>
            </a:extLst>
          </p:cNvPr>
          <p:cNvSpPr txBox="1"/>
          <p:nvPr/>
        </p:nvSpPr>
        <p:spPr>
          <a:xfrm>
            <a:off x="4601886" y="1060439"/>
            <a:ext cx="9084227" cy="728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600"/>
              </a:lnSpc>
            </a:pPr>
            <a:r>
              <a:rPr lang="uk-UA" sz="4800" b="1" u="none" strike="noStrike">
                <a:solidFill>
                  <a:srgbClr val="FFFFFF"/>
                </a:solidFill>
                <a:latin typeface="Geologica" pitchFamily="2" charset="0"/>
                <a:ea typeface="Kollektif Bold"/>
                <a:cs typeface="Kollektif Bold"/>
                <a:sym typeface="Kollektif Bold"/>
              </a:rPr>
              <a:t>РОЛІ ТА ПРИВІЛЕЇ</a:t>
            </a:r>
            <a:endParaRPr lang="en-US" sz="4800" b="1" u="none" strike="noStrike">
              <a:solidFill>
                <a:srgbClr val="FFFFFF"/>
              </a:solidFill>
              <a:latin typeface="Geologica" pitchFamily="2" charset="0"/>
              <a:ea typeface="Kollektif Bold"/>
              <a:cs typeface="Kollektif Bold"/>
              <a:sym typeface="Kollektif Bold"/>
            </a:endParaRPr>
          </a:p>
        </p:txBody>
      </p:sp>
      <p:sp>
        <p:nvSpPr>
          <p:cNvPr id="23" name="TextBox 5">
            <a:extLst>
              <a:ext uri="{FF2B5EF4-FFF2-40B4-BE49-F238E27FC236}">
                <a16:creationId xmlns:a16="http://schemas.microsoft.com/office/drawing/2014/main" id="{99BA992B-86E8-65BD-345A-ECC3E4B9EA31}"/>
              </a:ext>
            </a:extLst>
          </p:cNvPr>
          <p:cNvSpPr txBox="1"/>
          <p:nvPr/>
        </p:nvSpPr>
        <p:spPr>
          <a:xfrm>
            <a:off x="1028700" y="459921"/>
            <a:ext cx="1790700" cy="18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uk-UA" sz="1400" b="1" spc="-58">
                <a:solidFill>
                  <a:srgbClr val="FFFFFF"/>
                </a:solidFill>
                <a:latin typeface="Geologica" pitchFamily="2" charset="0"/>
                <a:ea typeface="Kollektif Bold"/>
                <a:cs typeface="Kollektif Bold"/>
                <a:sym typeface="Kollektif Bold"/>
              </a:rPr>
              <a:t>ОНУ ім. Мечникова</a:t>
            </a:r>
            <a:endParaRPr lang="en-US" sz="1400" b="1" spc="-58">
              <a:solidFill>
                <a:srgbClr val="FFFFFF"/>
              </a:solidFill>
              <a:latin typeface="Geologica" pitchFamily="2" charset="0"/>
              <a:ea typeface="Kollektif Bold"/>
              <a:cs typeface="Kollektif Bold"/>
              <a:sym typeface="Kollektif Bold"/>
            </a:endParaRPr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18DFA7F8-8A47-1084-B529-40BF38D465BA}"/>
              </a:ext>
            </a:extLst>
          </p:cNvPr>
          <p:cNvSpPr txBox="1"/>
          <p:nvPr/>
        </p:nvSpPr>
        <p:spPr>
          <a:xfrm>
            <a:off x="16535401" y="432599"/>
            <a:ext cx="723900" cy="18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Geologica" pitchFamily="2" charset="0"/>
                <a:ea typeface="Kollektif Bold"/>
                <a:cs typeface="Kollektif Bold"/>
                <a:sym typeface="Kollektif Bold"/>
              </a:rPr>
              <a:t>2026</a:t>
            </a:r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id="{DF309279-3E4D-CC82-5C1F-BB10FF059775}"/>
              </a:ext>
            </a:extLst>
          </p:cNvPr>
          <p:cNvSpPr txBox="1"/>
          <p:nvPr/>
        </p:nvSpPr>
        <p:spPr>
          <a:xfrm>
            <a:off x="8248650" y="470767"/>
            <a:ext cx="1790700" cy="18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Geologica" pitchFamily="2" charset="0"/>
                <a:ea typeface="Kollektif Bold"/>
                <a:cs typeface="Kollektif Bold"/>
                <a:sym typeface="Kollektif Bold"/>
              </a:rPr>
              <a:t>CASEFLOW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D79E6B3A-F9F1-6240-9F6A-961A75B25A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2463627"/>
              </p:ext>
            </p:extLst>
          </p:nvPr>
        </p:nvGraphicFramePr>
        <p:xfrm>
          <a:off x="1371599" y="2592222"/>
          <a:ext cx="15544800" cy="6673862"/>
        </p:xfrm>
        <a:graphic>
          <a:graphicData uri="http://schemas.openxmlformats.org/drawingml/2006/table">
            <a:tbl>
              <a:tblPr firstRow="1" bandRow="1">
                <a:tableStyleId>{E929F9F4-4A8F-4326-A1B4-22849713DDAB}</a:tableStyleId>
              </a:tblPr>
              <a:tblGrid>
                <a:gridCol w="5181600">
                  <a:extLst>
                    <a:ext uri="{9D8B030D-6E8A-4147-A177-3AD203B41FA5}">
                      <a16:colId xmlns:a16="http://schemas.microsoft.com/office/drawing/2014/main" val="3050037922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1647381152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2629271483"/>
                    </a:ext>
                  </a:extLst>
                </a:gridCol>
              </a:tblGrid>
              <a:tr h="513374">
                <a:tc rowSpan="2">
                  <a:txBody>
                    <a:bodyPr/>
                    <a:lstStyle/>
                    <a:p>
                      <a:pPr algn="ctr"/>
                      <a:r>
                        <a:rPr lang="ru-UA" b="1">
                          <a:solidFill>
                            <a:schemeClr val="bg1"/>
                          </a:solidFill>
                        </a:rPr>
                        <a:t>Обʼєкти БД</a:t>
                      </a:r>
                      <a:endParaRPr lang="ru-UA" b="1" i="0">
                        <a:solidFill>
                          <a:schemeClr val="bg1"/>
                        </a:solidFill>
                        <a:latin typeface="Geologica SemiBold" pitchFamily="2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UA" b="1">
                          <a:solidFill>
                            <a:schemeClr val="bg1"/>
                          </a:solidFill>
                        </a:rPr>
                        <a:t>Ролі</a:t>
                      </a:r>
                      <a:endParaRPr lang="ru-UA" b="1" i="0">
                        <a:solidFill>
                          <a:schemeClr val="bg1"/>
                        </a:solidFill>
                        <a:latin typeface="Geologica SemiBold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ru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300815"/>
                  </a:ext>
                </a:extLst>
              </a:tr>
              <a:tr h="513374">
                <a:tc vMerge="1">
                  <a:txBody>
                    <a:bodyPr/>
                    <a:lstStyle/>
                    <a:p>
                      <a:endParaRPr lang="ru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UA" b="1">
                          <a:solidFill>
                            <a:schemeClr val="bg1"/>
                          </a:solidFill>
                        </a:rPr>
                        <a:t>Адміністратор</a:t>
                      </a:r>
                      <a:endParaRPr lang="ru-UA" b="1" i="0">
                        <a:solidFill>
                          <a:schemeClr val="bg1"/>
                        </a:solidFill>
                        <a:latin typeface="Geologica SemiBold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>
                          <a:solidFill>
                            <a:schemeClr val="bg1"/>
                          </a:solidFill>
                        </a:rPr>
                        <a:t>Детектив</a:t>
                      </a:r>
                      <a:endParaRPr lang="ru-UA" b="1" i="0">
                        <a:solidFill>
                          <a:schemeClr val="bg1"/>
                        </a:solidFill>
                        <a:latin typeface="Geologica SemiBold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2111641"/>
                  </a:ext>
                </a:extLst>
              </a:tr>
              <a:tr h="513374">
                <a:tc gridSpan="3">
                  <a:txBody>
                    <a:bodyPr/>
                    <a:lstStyle/>
                    <a:p>
                      <a:pPr algn="ctr"/>
                      <a:r>
                        <a:rPr lang="ru-UA" b="1">
                          <a:solidFill>
                            <a:schemeClr val="bg1"/>
                          </a:solidFill>
                        </a:rPr>
                        <a:t>Таблиці</a:t>
                      </a:r>
                      <a:endParaRPr lang="ru-UA" b="1" i="0">
                        <a:solidFill>
                          <a:schemeClr val="bg1"/>
                        </a:solidFill>
                        <a:latin typeface="Geologica SemiBold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ru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757201"/>
                  </a:ext>
                </a:extLst>
              </a:tr>
              <a:tr h="513374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1"/>
                          </a:solidFill>
                        </a:rPr>
                        <a:t>Case</a:t>
                      </a:r>
                      <a:endParaRPr lang="ru-UA" b="0" i="0">
                        <a:solidFill>
                          <a:schemeClr val="bg1"/>
                        </a:solidFill>
                        <a:latin typeface="Geologica Thin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1"/>
                          </a:solidFill>
                        </a:rPr>
                        <a:t>CRUD</a:t>
                      </a:r>
                      <a:endParaRPr lang="ru-UA" b="0" i="0">
                        <a:solidFill>
                          <a:schemeClr val="bg1"/>
                        </a:solidFill>
                        <a:latin typeface="Geologica Thin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1"/>
                          </a:solidFill>
                        </a:rPr>
                        <a:t>RU</a:t>
                      </a:r>
                      <a:endParaRPr lang="ru-UA" b="0" i="0">
                        <a:solidFill>
                          <a:schemeClr val="bg1"/>
                        </a:solidFill>
                        <a:latin typeface="Geologica Thin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6309430"/>
                  </a:ext>
                </a:extLst>
              </a:tr>
              <a:tr h="513374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1"/>
                          </a:solidFill>
                        </a:rPr>
                        <a:t>CaseType</a:t>
                      </a:r>
                      <a:endParaRPr lang="ru-UA" b="0" i="0">
                        <a:solidFill>
                          <a:schemeClr val="bg1"/>
                        </a:solidFill>
                        <a:latin typeface="Geologica Thin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1"/>
                          </a:solidFill>
                        </a:rPr>
                        <a:t>CRUD</a:t>
                      </a:r>
                      <a:endParaRPr lang="ru-UA" b="0" i="0">
                        <a:solidFill>
                          <a:schemeClr val="bg1"/>
                        </a:solidFill>
                        <a:latin typeface="Geologica Thin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ru-UA" b="0" i="0">
                        <a:solidFill>
                          <a:schemeClr val="bg1"/>
                        </a:solidFill>
                        <a:latin typeface="Geologica Thin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255281"/>
                  </a:ext>
                </a:extLst>
              </a:tr>
              <a:tr h="513374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1"/>
                          </a:solidFill>
                        </a:rPr>
                        <a:t>Client</a:t>
                      </a:r>
                      <a:endParaRPr lang="ru-UA" b="0" i="0">
                        <a:solidFill>
                          <a:schemeClr val="bg1"/>
                        </a:solidFill>
                        <a:latin typeface="Geologica Thin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>
                          <a:solidFill>
                            <a:schemeClr val="bg1"/>
                          </a:solidFill>
                        </a:rPr>
                        <a:t>CRUD</a:t>
                      </a:r>
                      <a:endParaRPr lang="ru-UA" b="0" i="0">
                        <a:solidFill>
                          <a:schemeClr val="bg1"/>
                        </a:solidFill>
                        <a:latin typeface="Geologica Thin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ru-UA" b="0" i="0">
                        <a:solidFill>
                          <a:schemeClr val="bg1"/>
                        </a:solidFill>
                        <a:latin typeface="Geologica Thin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6526110"/>
                  </a:ext>
                </a:extLst>
              </a:tr>
              <a:tr h="513374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1"/>
                          </a:solidFill>
                        </a:rPr>
                        <a:t>Detective</a:t>
                      </a:r>
                      <a:endParaRPr lang="ru-UA" b="0" i="0">
                        <a:solidFill>
                          <a:schemeClr val="bg1"/>
                        </a:solidFill>
                        <a:latin typeface="Geologica Thin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1"/>
                          </a:solidFill>
                        </a:rPr>
                        <a:t>CRUD</a:t>
                      </a:r>
                      <a:endParaRPr lang="ru-UA" b="0" i="0">
                        <a:solidFill>
                          <a:schemeClr val="bg1"/>
                        </a:solidFill>
                        <a:latin typeface="Geologica Thin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ru-UA" b="0" i="0">
                        <a:solidFill>
                          <a:schemeClr val="bg1"/>
                        </a:solidFill>
                        <a:latin typeface="Geologica Thin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6147090"/>
                  </a:ext>
                </a:extLst>
              </a:tr>
              <a:tr h="513374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1"/>
                          </a:solidFill>
                        </a:rPr>
                        <a:t>Evidence</a:t>
                      </a:r>
                      <a:endParaRPr lang="ru-UA" b="0" i="0">
                        <a:solidFill>
                          <a:schemeClr val="bg1"/>
                        </a:solidFill>
                        <a:latin typeface="Geologica Thin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1"/>
                          </a:solidFill>
                        </a:rPr>
                        <a:t>CRUD</a:t>
                      </a:r>
                      <a:endParaRPr lang="ru-UA" b="0" i="0">
                        <a:solidFill>
                          <a:schemeClr val="bg1"/>
                        </a:solidFill>
                        <a:latin typeface="Geologica Thin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1"/>
                          </a:solidFill>
                        </a:rPr>
                        <a:t>CRU</a:t>
                      </a:r>
                      <a:endParaRPr lang="ru-UA" b="0" i="0">
                        <a:solidFill>
                          <a:schemeClr val="bg1"/>
                        </a:solidFill>
                        <a:latin typeface="Geologica Thin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7373633"/>
                  </a:ext>
                </a:extLst>
              </a:tr>
              <a:tr h="513374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1"/>
                          </a:solidFill>
                        </a:rPr>
                        <a:t>Expense</a:t>
                      </a:r>
                      <a:endParaRPr lang="ru-UA" b="0" i="0">
                        <a:solidFill>
                          <a:schemeClr val="bg1"/>
                        </a:solidFill>
                        <a:latin typeface="Geologica Thin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1"/>
                          </a:solidFill>
                        </a:rPr>
                        <a:t>CRUD</a:t>
                      </a:r>
                      <a:endParaRPr lang="ru-UA" b="0" i="0">
                        <a:solidFill>
                          <a:schemeClr val="bg1"/>
                        </a:solidFill>
                        <a:latin typeface="Geologica Thin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1"/>
                          </a:solidFill>
                        </a:rPr>
                        <a:t>CRU</a:t>
                      </a:r>
                      <a:endParaRPr lang="ru-UA" b="0" i="0">
                        <a:solidFill>
                          <a:schemeClr val="bg1"/>
                        </a:solidFill>
                        <a:latin typeface="Geologica Thin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6561558"/>
                  </a:ext>
                </a:extLst>
              </a:tr>
              <a:tr h="513374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1"/>
                          </a:solidFill>
                        </a:rPr>
                        <a:t>Report</a:t>
                      </a:r>
                      <a:endParaRPr lang="ru-UA" b="0" i="0">
                        <a:solidFill>
                          <a:schemeClr val="bg1"/>
                        </a:solidFill>
                        <a:latin typeface="Geologica Thin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1"/>
                          </a:solidFill>
                        </a:rPr>
                        <a:t>CRUD</a:t>
                      </a:r>
                      <a:endParaRPr lang="ru-UA" b="0" i="0">
                        <a:solidFill>
                          <a:schemeClr val="bg1"/>
                        </a:solidFill>
                        <a:latin typeface="Geologica Thin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1"/>
                          </a:solidFill>
                        </a:rPr>
                        <a:t>CRU</a:t>
                      </a:r>
                      <a:endParaRPr lang="ru-UA" b="0" i="0">
                        <a:solidFill>
                          <a:schemeClr val="bg1"/>
                        </a:solidFill>
                        <a:latin typeface="Geologica Thin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0458524"/>
                  </a:ext>
                </a:extLst>
              </a:tr>
              <a:tr h="513374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1"/>
                          </a:solidFill>
                        </a:rPr>
                        <a:t>Suspect</a:t>
                      </a:r>
                      <a:endParaRPr lang="ru-UA" b="0" i="0">
                        <a:solidFill>
                          <a:schemeClr val="bg1"/>
                        </a:solidFill>
                        <a:latin typeface="Geologica Thin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1"/>
                          </a:solidFill>
                        </a:rPr>
                        <a:t>CRUD</a:t>
                      </a:r>
                      <a:endParaRPr lang="ru-UA" b="0" i="0">
                        <a:solidFill>
                          <a:schemeClr val="bg1"/>
                        </a:solidFill>
                        <a:latin typeface="Geologica Thin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1"/>
                          </a:solidFill>
                        </a:rPr>
                        <a:t>CRU</a:t>
                      </a:r>
                      <a:endParaRPr lang="ru-UA" b="0" i="0">
                        <a:solidFill>
                          <a:schemeClr val="bg1"/>
                        </a:solidFill>
                        <a:latin typeface="Geologica Thin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2340755"/>
                  </a:ext>
                </a:extLst>
              </a:tr>
              <a:tr h="513374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1"/>
                          </a:solidFill>
                        </a:rPr>
                        <a:t>CaseSuspect</a:t>
                      </a:r>
                      <a:endParaRPr lang="ru-UA" b="0" i="0">
                        <a:solidFill>
                          <a:schemeClr val="bg1"/>
                        </a:solidFill>
                        <a:latin typeface="Geologica Thin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1"/>
                          </a:solidFill>
                        </a:rPr>
                        <a:t>CRUD</a:t>
                      </a:r>
                      <a:endParaRPr lang="ru-UA" b="0" i="0">
                        <a:solidFill>
                          <a:schemeClr val="bg1"/>
                        </a:solidFill>
                        <a:latin typeface="Geologica Thin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1"/>
                          </a:solidFill>
                        </a:rPr>
                        <a:t>CRUD</a:t>
                      </a:r>
                      <a:endParaRPr lang="ru-UA" b="0" i="0">
                        <a:solidFill>
                          <a:schemeClr val="bg1"/>
                        </a:solidFill>
                        <a:latin typeface="Geologica Thin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2430669"/>
                  </a:ext>
                </a:extLst>
              </a:tr>
              <a:tr h="513374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1"/>
                          </a:solidFill>
                        </a:rPr>
                        <a:t>CaseEvidence</a:t>
                      </a:r>
                      <a:endParaRPr lang="ru-UA" b="0" i="0">
                        <a:solidFill>
                          <a:schemeClr val="bg1"/>
                        </a:solidFill>
                        <a:latin typeface="Geologica Thin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1"/>
                          </a:solidFill>
                        </a:rPr>
                        <a:t>CRUD</a:t>
                      </a:r>
                      <a:endParaRPr lang="ru-UA" b="0" i="0">
                        <a:solidFill>
                          <a:schemeClr val="bg1"/>
                        </a:solidFill>
                        <a:latin typeface="Geologica Thin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1"/>
                          </a:solidFill>
                        </a:rPr>
                        <a:t>CRUD</a:t>
                      </a:r>
                      <a:endParaRPr lang="ru-UA" b="0" i="0">
                        <a:solidFill>
                          <a:schemeClr val="bg1"/>
                        </a:solidFill>
                        <a:latin typeface="Geologica Thin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1952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1116745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601520" y="-4700724"/>
            <a:ext cx="13260440" cy="12299058"/>
          </a:xfrm>
          <a:custGeom>
            <a:avLst/>
            <a:gdLst/>
            <a:ahLst/>
            <a:cxnLst/>
            <a:rect l="l" t="t" r="r" b="b"/>
            <a:pathLst>
              <a:path w="13260440" h="12299058">
                <a:moveTo>
                  <a:pt x="0" y="0"/>
                </a:moveTo>
                <a:lnTo>
                  <a:pt x="13260440" y="0"/>
                </a:lnTo>
                <a:lnTo>
                  <a:pt x="13260440" y="12299058"/>
                </a:lnTo>
                <a:lnTo>
                  <a:pt x="0" y="122990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AutoShape 3"/>
          <p:cNvSpPr/>
          <p:nvPr/>
        </p:nvSpPr>
        <p:spPr>
          <a:xfrm flipV="1">
            <a:off x="7062711" y="0"/>
            <a:ext cx="0" cy="1028700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6924805" y="1573678"/>
            <a:ext cx="275812" cy="275812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>
            <a:off x="7062711" y="1711584"/>
            <a:ext cx="1978192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6924805" y="3679973"/>
            <a:ext cx="275812" cy="27581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>
            <a:off x="7062711" y="3817879"/>
            <a:ext cx="1978192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6924805" y="5786268"/>
            <a:ext cx="275812" cy="27581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>
            <a:off x="7062711" y="5924174"/>
            <a:ext cx="1978192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6924805" y="7892563"/>
            <a:ext cx="275812" cy="275812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>
            <a:off x="7062711" y="8030469"/>
            <a:ext cx="1978192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TextBox 20"/>
          <p:cNvSpPr txBox="1"/>
          <p:nvPr/>
        </p:nvSpPr>
        <p:spPr>
          <a:xfrm>
            <a:off x="1028700" y="1132805"/>
            <a:ext cx="5005311" cy="875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uk-UA" sz="4800" b="1" u="none" strike="noStrike">
                <a:solidFill>
                  <a:srgbClr val="FFFFFF"/>
                </a:solidFill>
                <a:latin typeface="Geologica SemiBold" pitchFamily="2" charset="0"/>
                <a:ea typeface="Kollektif"/>
                <a:cs typeface="Kollektif"/>
                <a:sym typeface="Kollektif"/>
              </a:rPr>
              <a:t>ВИСНОВКИ</a:t>
            </a:r>
            <a:endParaRPr lang="en-US" sz="4800" b="1" u="none" strike="noStrike">
              <a:solidFill>
                <a:srgbClr val="FFFFFF"/>
              </a:solidFill>
              <a:latin typeface="Geologica SemiBold" pitchFamily="2" charset="0"/>
              <a:ea typeface="Kollektif"/>
              <a:cs typeface="Kollektif"/>
              <a:sym typeface="Kollektif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144000" y="1410705"/>
            <a:ext cx="7767740" cy="498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ts val="4160"/>
              </a:lnSpc>
              <a:spcBef>
                <a:spcPct val="0"/>
              </a:spcBef>
            </a:pPr>
            <a:r>
              <a:rPr lang="ru-RU" sz="2800" b="1">
                <a:solidFill>
                  <a:srgbClr val="FFFFFF"/>
                </a:solidFill>
                <a:latin typeface="Geologica SemiBold" pitchFamily="2" charset="0"/>
                <a:ea typeface="Kollektif Bold"/>
                <a:cs typeface="Kollektif Bold"/>
                <a:sym typeface="Kollektif Bold"/>
              </a:rPr>
              <a:t>Автоматизація процесів</a:t>
            </a:r>
            <a:endParaRPr lang="en-US" sz="2800" b="1" u="none" strike="noStrike">
              <a:solidFill>
                <a:srgbClr val="FFFFFF"/>
              </a:solidFill>
              <a:latin typeface="Geologica SemiBold" pitchFamily="2" charset="0"/>
              <a:ea typeface="Kollektif Bold"/>
              <a:cs typeface="Kollektif Bold"/>
              <a:sym typeface="Kollektif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144000" y="1932040"/>
            <a:ext cx="7767740" cy="1093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>
              <a:lnSpc>
                <a:spcPts val="2940"/>
              </a:lnSpc>
              <a:spcBef>
                <a:spcPct val="0"/>
              </a:spcBef>
            </a:pPr>
            <a:r>
              <a:rPr lang="ru-RU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Система дає змогу автоматизувати основні процеси роботи детективного агентства та зменшити обсяг ручної обробки даних.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2216139"/>
            <a:ext cx="5005311" cy="7416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>
              <a:lnSpc>
                <a:spcPts val="2940"/>
              </a:lnSpc>
              <a:spcBef>
                <a:spcPct val="0"/>
              </a:spcBef>
            </a:pPr>
            <a:r>
              <a:rPr lang="ru-RU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У межах курсового проєкту</a:t>
            </a:r>
            <a:r>
              <a:rPr lang="en-US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 </a:t>
            </a:r>
            <a:r>
              <a:rPr lang="ru-RU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розроблено інформаційну систему «Детективне агентство».</a:t>
            </a:r>
          </a:p>
          <a:p>
            <a:pPr marL="0" lvl="1" indent="0">
              <a:lnSpc>
                <a:spcPts val="2940"/>
              </a:lnSpc>
              <a:spcBef>
                <a:spcPct val="0"/>
              </a:spcBef>
            </a:pPr>
            <a:endParaRPr lang="ru-RU" sz="2100">
              <a:solidFill>
                <a:srgbClr val="FFFFFF"/>
              </a:solidFill>
              <a:latin typeface="Geologica Thin" pitchFamily="2" charset="0"/>
              <a:ea typeface="Kollektif"/>
              <a:cs typeface="Kollektif"/>
              <a:sym typeface="Kollektif"/>
            </a:endParaRPr>
          </a:p>
          <a:p>
            <a:pPr marL="0" lvl="1" indent="0">
              <a:lnSpc>
                <a:spcPts val="2940"/>
              </a:lnSpc>
              <a:spcBef>
                <a:spcPct val="0"/>
              </a:spcBef>
            </a:pPr>
            <a:r>
              <a:rPr lang="ru-RU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Під час виконання роботи</a:t>
            </a:r>
            <a:r>
              <a:rPr lang="en-US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 </a:t>
            </a:r>
            <a:r>
              <a:rPr lang="ru-RU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проаналізовано предметну область, визначено ролі користувачів, обрано архітектуру системи та спроєктовано базу даних.</a:t>
            </a:r>
          </a:p>
          <a:p>
            <a:pPr marL="0" lvl="1" indent="0">
              <a:lnSpc>
                <a:spcPts val="2940"/>
              </a:lnSpc>
              <a:spcBef>
                <a:spcPct val="0"/>
              </a:spcBef>
            </a:pPr>
            <a:endParaRPr lang="ru-RU" sz="2100">
              <a:solidFill>
                <a:srgbClr val="FFFFFF"/>
              </a:solidFill>
              <a:latin typeface="Geologica Thin" pitchFamily="2" charset="0"/>
              <a:ea typeface="Kollektif"/>
              <a:cs typeface="Kollektif"/>
              <a:sym typeface="Kollektif"/>
            </a:endParaRPr>
          </a:p>
          <a:p>
            <a:pPr marL="0" lvl="1" indent="0">
              <a:lnSpc>
                <a:spcPts val="2940"/>
              </a:lnSpc>
              <a:spcBef>
                <a:spcPct val="0"/>
              </a:spcBef>
            </a:pPr>
            <a:r>
              <a:rPr lang="ru-RU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Створена система забезпечує облік основних об’єктів предметної області, підтримує ведення детективних справ і розмежування прав доступу.</a:t>
            </a:r>
          </a:p>
          <a:p>
            <a:pPr marL="0" lvl="1" indent="0">
              <a:lnSpc>
                <a:spcPts val="2940"/>
              </a:lnSpc>
              <a:spcBef>
                <a:spcPct val="0"/>
              </a:spcBef>
            </a:pPr>
            <a:endParaRPr lang="ru-RU" sz="2100">
              <a:solidFill>
                <a:srgbClr val="FFFFFF"/>
              </a:solidFill>
              <a:latin typeface="Geologica Thin" pitchFamily="2" charset="0"/>
              <a:ea typeface="Kollektif"/>
              <a:cs typeface="Kollektif"/>
              <a:sym typeface="Kollektif"/>
            </a:endParaRPr>
          </a:p>
          <a:p>
            <a:pPr marL="0" lvl="1" indent="0">
              <a:lnSpc>
                <a:spcPts val="2940"/>
              </a:lnSpc>
              <a:spcBef>
                <a:spcPct val="0"/>
              </a:spcBef>
            </a:pPr>
            <a:r>
              <a:rPr lang="ru-RU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Результатом роботи є програмний засіб, який автоматизує ключові процеси детективного агентства та підвищує ефективність роботи з даними.</a:t>
            </a:r>
            <a:endParaRPr lang="en-US" sz="2100" u="none" strike="noStrike">
              <a:solidFill>
                <a:srgbClr val="FFFFFF"/>
              </a:solidFill>
              <a:latin typeface="Geologica Thin" pitchFamily="2" charset="0"/>
              <a:ea typeface="Kollektif"/>
              <a:cs typeface="Kollektif"/>
              <a:sym typeface="Kollektif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144000" y="3517000"/>
            <a:ext cx="7767740" cy="498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ts val="4160"/>
              </a:lnSpc>
              <a:spcBef>
                <a:spcPct val="0"/>
              </a:spcBef>
            </a:pPr>
            <a:r>
              <a:rPr lang="ru-RU" sz="2800" b="1">
                <a:solidFill>
                  <a:srgbClr val="FFFFFF"/>
                </a:solidFill>
                <a:latin typeface="Geologica SemiBold" pitchFamily="2" charset="0"/>
                <a:ea typeface="Kollektif Bold"/>
                <a:cs typeface="Kollektif Bold"/>
                <a:sym typeface="Kollektif Bold"/>
              </a:rPr>
              <a:t>Структурований облік даних</a:t>
            </a:r>
            <a:endParaRPr lang="en-US" sz="2800" b="1" u="none" strike="noStrike">
              <a:solidFill>
                <a:srgbClr val="FFFFFF"/>
              </a:solidFill>
              <a:latin typeface="Geologica SemiBold" pitchFamily="2" charset="0"/>
              <a:ea typeface="Kollektif Bold"/>
              <a:cs typeface="Kollektif Bold"/>
              <a:sym typeface="Kollektif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144000" y="4116792"/>
            <a:ext cx="7767740" cy="1093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>
              <a:lnSpc>
                <a:spcPts val="2940"/>
              </a:lnSpc>
              <a:spcBef>
                <a:spcPct val="0"/>
              </a:spcBef>
            </a:pPr>
            <a:r>
              <a:rPr lang="ru-RU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У межах проєкту реалізовано облік клієнтів, справ, детективів, підозрюваних, доказів, витрат і звітів у єдиній системі.</a:t>
            </a:r>
            <a:endParaRPr lang="en-US" sz="2100" u="none" strike="noStrike">
              <a:solidFill>
                <a:srgbClr val="FFFFFF"/>
              </a:solidFill>
              <a:latin typeface="Geologica Thin" pitchFamily="2" charset="0"/>
              <a:ea typeface="Kollektif"/>
              <a:cs typeface="Kollektif"/>
              <a:sym typeface="Kollektif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144000" y="5623295"/>
            <a:ext cx="7767740" cy="51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ts val="4160"/>
              </a:lnSpc>
              <a:spcBef>
                <a:spcPct val="0"/>
              </a:spcBef>
            </a:pPr>
            <a:r>
              <a:rPr lang="ru-RU" sz="2800" b="1">
                <a:solidFill>
                  <a:srgbClr val="FFFFFF"/>
                </a:solidFill>
                <a:latin typeface="Geologica SemiBold" pitchFamily="2" charset="0"/>
                <a:ea typeface="Kollektif Bold"/>
                <a:cs typeface="Kollektif Bold"/>
                <a:sym typeface="Kollektif Bold"/>
              </a:rPr>
              <a:t>Розмежування ролей користувачів</a:t>
            </a:r>
            <a:endParaRPr lang="en-US" sz="2800" b="1" u="none" strike="noStrike">
              <a:solidFill>
                <a:srgbClr val="FFFFFF"/>
              </a:solidFill>
              <a:latin typeface="Geologica SemiBold" pitchFamily="2" charset="0"/>
              <a:ea typeface="Kollektif Bold"/>
              <a:cs typeface="Kollektif Bold"/>
              <a:sym typeface="Kollektif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9144000" y="6177218"/>
            <a:ext cx="7767740" cy="109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>
              <a:lnSpc>
                <a:spcPts val="2940"/>
              </a:lnSpc>
              <a:spcBef>
                <a:spcPct val="0"/>
              </a:spcBef>
            </a:pPr>
            <a:r>
              <a:rPr lang="ru-RU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Функціональність системи побудована з урахуванням ролей адміністратора та детектива, що забезпечує зручну та безпечну роботу.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44000" y="7729590"/>
            <a:ext cx="7767740" cy="498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ts val="4160"/>
              </a:lnSpc>
              <a:spcBef>
                <a:spcPct val="0"/>
              </a:spcBef>
            </a:pPr>
            <a:r>
              <a:rPr lang="ru-RU" sz="2800" b="1">
                <a:solidFill>
                  <a:srgbClr val="FFFFFF"/>
                </a:solidFill>
                <a:latin typeface="Geologica SemiBold" pitchFamily="2" charset="0"/>
                <a:ea typeface="Kollektif Bold"/>
                <a:cs typeface="Kollektif Bold"/>
                <a:sym typeface="Kollektif Bold"/>
              </a:rPr>
              <a:t>Практичний результат</a:t>
            </a:r>
            <a:endParaRPr lang="en-US" sz="2800" b="1" u="none" strike="noStrike">
              <a:solidFill>
                <a:srgbClr val="FFFFFF"/>
              </a:solidFill>
              <a:latin typeface="Geologica SemiBold" pitchFamily="2" charset="0"/>
              <a:ea typeface="Kollektif Bold"/>
              <a:cs typeface="Kollektif Bold"/>
              <a:sym typeface="Kollektif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9144000" y="8317798"/>
            <a:ext cx="7767740" cy="109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>
              <a:lnSpc>
                <a:spcPts val="2940"/>
              </a:lnSpc>
              <a:spcBef>
                <a:spcPct val="0"/>
              </a:spcBef>
            </a:pPr>
            <a:r>
              <a:rPr lang="ru-RU" sz="2100">
                <a:solidFill>
                  <a:srgbClr val="FFFFFF"/>
                </a:solidFill>
                <a:latin typeface="Geologica Thin" pitchFamily="2" charset="0"/>
                <a:ea typeface="Kollektif"/>
                <a:cs typeface="Kollektif"/>
                <a:sym typeface="Kollektif"/>
              </a:rPr>
              <a:t>Розроблений програмний засіб може бути використаний як основа для подальшого розвитку інформаційної системи детективного агентства.</a:t>
            </a:r>
            <a:endParaRPr lang="en-US" sz="2100" u="none" strike="noStrike">
              <a:solidFill>
                <a:srgbClr val="FFFFFF"/>
              </a:solidFill>
              <a:latin typeface="Geologica Thin" pitchFamily="2" charset="0"/>
              <a:ea typeface="Kollektif"/>
              <a:cs typeface="Kollektif"/>
              <a:sym typeface="Kollektif"/>
            </a:endParaRPr>
          </a:p>
        </p:txBody>
      </p:sp>
      <p:sp>
        <p:nvSpPr>
          <p:cNvPr id="34" name="TextBox 5">
            <a:extLst>
              <a:ext uri="{FF2B5EF4-FFF2-40B4-BE49-F238E27FC236}">
                <a16:creationId xmlns:a16="http://schemas.microsoft.com/office/drawing/2014/main" id="{10E4AE0F-D5CA-1FA7-DED0-5AFEC1B7F6A2}"/>
              </a:ext>
            </a:extLst>
          </p:cNvPr>
          <p:cNvSpPr txBox="1"/>
          <p:nvPr/>
        </p:nvSpPr>
        <p:spPr>
          <a:xfrm>
            <a:off x="1028700" y="459921"/>
            <a:ext cx="1790700" cy="18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uk-UA" sz="1400" b="1" spc="-58">
                <a:solidFill>
                  <a:srgbClr val="FFFFFF"/>
                </a:solidFill>
                <a:latin typeface="Geologica" pitchFamily="2" charset="0"/>
                <a:ea typeface="Kollektif Bold"/>
                <a:cs typeface="Kollektif Bold"/>
                <a:sym typeface="Kollektif Bold"/>
              </a:rPr>
              <a:t>ОНУ ім. Мечникова</a:t>
            </a:r>
            <a:endParaRPr lang="en-US" sz="1400" b="1" spc="-58">
              <a:solidFill>
                <a:srgbClr val="FFFFFF"/>
              </a:solidFill>
              <a:latin typeface="Geologica" pitchFamily="2" charset="0"/>
              <a:ea typeface="Kollektif Bold"/>
              <a:cs typeface="Kollektif Bold"/>
              <a:sym typeface="Kollektif Bold"/>
            </a:endParaRPr>
          </a:p>
        </p:txBody>
      </p:sp>
      <p:sp>
        <p:nvSpPr>
          <p:cNvPr id="35" name="TextBox 6">
            <a:extLst>
              <a:ext uri="{FF2B5EF4-FFF2-40B4-BE49-F238E27FC236}">
                <a16:creationId xmlns:a16="http://schemas.microsoft.com/office/drawing/2014/main" id="{013EF2E1-7652-C4C6-0A4A-81A0152BC2FB}"/>
              </a:ext>
            </a:extLst>
          </p:cNvPr>
          <p:cNvSpPr txBox="1"/>
          <p:nvPr/>
        </p:nvSpPr>
        <p:spPr>
          <a:xfrm>
            <a:off x="16535401" y="432599"/>
            <a:ext cx="723900" cy="18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Geologica" pitchFamily="2" charset="0"/>
                <a:ea typeface="Kollektif Bold"/>
                <a:cs typeface="Kollektif Bold"/>
                <a:sym typeface="Kollektif Bold"/>
              </a:rPr>
              <a:t>2026</a:t>
            </a:r>
          </a:p>
        </p:txBody>
      </p:sp>
      <p:sp>
        <p:nvSpPr>
          <p:cNvPr id="36" name="TextBox 5">
            <a:extLst>
              <a:ext uri="{FF2B5EF4-FFF2-40B4-BE49-F238E27FC236}">
                <a16:creationId xmlns:a16="http://schemas.microsoft.com/office/drawing/2014/main" id="{33F7639A-5F42-9416-6918-65D3430B8E70}"/>
              </a:ext>
            </a:extLst>
          </p:cNvPr>
          <p:cNvSpPr txBox="1"/>
          <p:nvPr/>
        </p:nvSpPr>
        <p:spPr>
          <a:xfrm>
            <a:off x="8248650" y="470767"/>
            <a:ext cx="1790700" cy="18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Geologica" pitchFamily="2" charset="0"/>
                <a:ea typeface="Kollektif Bold"/>
                <a:cs typeface="Kollektif Bold"/>
                <a:sym typeface="Kollektif Bold"/>
              </a:rPr>
              <a:t>CASEFLOW</a:t>
            </a: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9711" y="-248460"/>
            <a:ext cx="14828579" cy="10783920"/>
          </a:xfrm>
          <a:custGeom>
            <a:avLst/>
            <a:gdLst/>
            <a:ahLst/>
            <a:cxnLst/>
            <a:rect l="l" t="t" r="r" b="b"/>
            <a:pathLst>
              <a:path w="14828579" h="10783920">
                <a:moveTo>
                  <a:pt x="0" y="0"/>
                </a:moveTo>
                <a:lnTo>
                  <a:pt x="14828578" y="0"/>
                </a:lnTo>
                <a:lnTo>
                  <a:pt x="14828578" y="10783920"/>
                </a:lnTo>
                <a:lnTo>
                  <a:pt x="0" y="10783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698" b="-8698"/>
            </a:stretch>
          </a:blipFill>
        </p:spPr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8A54B04E-AF8E-1FF5-9363-162AB64CCCF8}"/>
              </a:ext>
            </a:extLst>
          </p:cNvPr>
          <p:cNvSpPr txBox="1"/>
          <p:nvPr/>
        </p:nvSpPr>
        <p:spPr>
          <a:xfrm>
            <a:off x="3960375" y="3467100"/>
            <a:ext cx="10472342" cy="2045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26"/>
              </a:lnSpc>
            </a:pPr>
            <a:r>
              <a:rPr lang="uk-UA" sz="6000" b="1">
                <a:solidFill>
                  <a:srgbClr val="FFFFFF"/>
                </a:solidFill>
                <a:latin typeface="Geologica Black" pitchFamily="2" charset="0"/>
                <a:ea typeface="Kollektif Bold"/>
                <a:cs typeface="Kollektif Bold"/>
                <a:sym typeface="Kollektif Bold"/>
              </a:rPr>
              <a:t>ДЯКУЮ ЗА УВАГУ!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10A4B1E2-85B0-0B6C-A059-15808A6A00F2}"/>
              </a:ext>
            </a:extLst>
          </p:cNvPr>
          <p:cNvSpPr txBox="1"/>
          <p:nvPr/>
        </p:nvSpPr>
        <p:spPr>
          <a:xfrm>
            <a:off x="4775933" y="5512147"/>
            <a:ext cx="8841225" cy="5236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uk-UA" sz="2400">
                <a:solidFill>
                  <a:schemeClr val="bg1"/>
                </a:solidFill>
                <a:latin typeface="Geologica Thin" pitchFamily="2" charset="0"/>
                <a:ea typeface="Kollektif Bold"/>
                <a:cs typeface="Kollektif Bold"/>
                <a:sym typeface="Kollektif Bold"/>
              </a:rPr>
              <a:t>МОВЧАН ІЛЛЯ 123КІ</a:t>
            </a:r>
            <a:endParaRPr lang="en-US" sz="2400">
              <a:solidFill>
                <a:schemeClr val="bg1"/>
              </a:solidFill>
              <a:latin typeface="Geologica Thin" pitchFamily="2" charset="0"/>
              <a:ea typeface="Kollektif Bold"/>
              <a:cs typeface="Kollektif Bold"/>
              <a:sym typeface="Kollektif Bold"/>
            </a:endParaRP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C8206459-D210-59C9-C34A-1131E7B9516A}"/>
              </a:ext>
            </a:extLst>
          </p:cNvPr>
          <p:cNvSpPr txBox="1"/>
          <p:nvPr/>
        </p:nvSpPr>
        <p:spPr>
          <a:xfrm>
            <a:off x="1028700" y="459921"/>
            <a:ext cx="1790700" cy="18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uk-UA" sz="1400" b="1" spc="-58">
                <a:solidFill>
                  <a:srgbClr val="FFFFFF"/>
                </a:solidFill>
                <a:latin typeface="Geologica" pitchFamily="2" charset="0"/>
                <a:ea typeface="Kollektif Bold"/>
                <a:cs typeface="Kollektif Bold"/>
                <a:sym typeface="Kollektif Bold"/>
              </a:rPr>
              <a:t>ОНУ ім. Мечникова</a:t>
            </a:r>
            <a:endParaRPr lang="en-US" sz="1400" b="1" spc="-58">
              <a:solidFill>
                <a:srgbClr val="FFFFFF"/>
              </a:solidFill>
              <a:latin typeface="Geologica" pitchFamily="2" charset="0"/>
              <a:ea typeface="Kollektif Bold"/>
              <a:cs typeface="Kollektif Bold"/>
              <a:sym typeface="Kollektif Bold"/>
            </a:endParaRP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B354B277-7338-014C-7888-EEDB33963A09}"/>
              </a:ext>
            </a:extLst>
          </p:cNvPr>
          <p:cNvSpPr txBox="1"/>
          <p:nvPr/>
        </p:nvSpPr>
        <p:spPr>
          <a:xfrm>
            <a:off x="16535401" y="432599"/>
            <a:ext cx="723900" cy="18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Geologica" pitchFamily="2" charset="0"/>
                <a:ea typeface="Kollektif Bold"/>
                <a:cs typeface="Kollektif Bold"/>
                <a:sym typeface="Kollektif Bold"/>
              </a:rPr>
              <a:t>2026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7C48C2C7-F9DA-0351-2108-78C4159F71EB}"/>
              </a:ext>
            </a:extLst>
          </p:cNvPr>
          <p:cNvSpPr txBox="1"/>
          <p:nvPr/>
        </p:nvSpPr>
        <p:spPr>
          <a:xfrm>
            <a:off x="8248650" y="470767"/>
            <a:ext cx="1790700" cy="18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Geologica" pitchFamily="2" charset="0"/>
                <a:ea typeface="Kollektif Bold"/>
                <a:cs typeface="Kollektif Bold"/>
                <a:sym typeface="Kollektif Bold"/>
              </a:rPr>
              <a:t>CASEFLOW</a:t>
            </a: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4513</TotalTime>
  <Words>725</Words>
  <Application>Microsoft Macintosh PowerPoint</Application>
  <PresentationFormat>Произвольный</PresentationFormat>
  <Paragraphs>173</Paragraphs>
  <Slides>11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Geologica</vt:lpstr>
      <vt:lpstr>Geologica Black</vt:lpstr>
      <vt:lpstr>Geologica SemiBold</vt:lpstr>
      <vt:lpstr>Geologica Thin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Gradient Minimalist Business Slides, копия</dc:title>
  <cp:lastModifiedBy>Microsoft Office User</cp:lastModifiedBy>
  <cp:revision>23</cp:revision>
  <dcterms:created xsi:type="dcterms:W3CDTF">2006-08-16T00:00:00Z</dcterms:created>
  <dcterms:modified xsi:type="dcterms:W3CDTF">2026-05-20T14:04:13Z</dcterms:modified>
  <dc:identifier>DAHEfCCTTKA</dc:identifier>
</cp:coreProperties>
</file>